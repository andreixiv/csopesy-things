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Montserrat Bold" charset="1" panose="00000800000000000000"/>
      <p:regular r:id="rId27"/>
    </p:embeddedFont>
    <p:embeddedFont>
      <p:font typeface="Montserrat" charset="1" panose="00000500000000000000"/>
      <p:regular r:id="rId28"/>
    </p:embeddedFont>
    <p:embeddedFont>
      <p:font typeface="HK Modular" charset="1" panose="00000800000000000000"/>
      <p:regular r:id="rId29"/>
    </p:embeddedFont>
    <p:embeddedFont>
      <p:font typeface="Montserrat Ultra-Bold" charset="1" panose="000009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07633" y="571060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2435" y="0"/>
                  </a:moveTo>
                  <a:lnTo>
                    <a:pt x="453094" y="0"/>
                  </a:lnTo>
                  <a:cubicBezTo>
                    <a:pt x="467000" y="0"/>
                    <a:pt x="480337" y="5524"/>
                    <a:pt x="490171" y="15358"/>
                  </a:cubicBezTo>
                  <a:cubicBezTo>
                    <a:pt x="500004" y="25191"/>
                    <a:pt x="505529" y="38528"/>
                    <a:pt x="505529" y="52435"/>
                  </a:cubicBezTo>
                  <a:lnTo>
                    <a:pt x="505529" y="96775"/>
                  </a:lnTo>
                  <a:cubicBezTo>
                    <a:pt x="505529" y="110682"/>
                    <a:pt x="500004" y="124019"/>
                    <a:pt x="490171" y="133852"/>
                  </a:cubicBezTo>
                  <a:cubicBezTo>
                    <a:pt x="480337" y="143686"/>
                    <a:pt x="467000" y="149210"/>
                    <a:pt x="453094" y="149210"/>
                  </a:cubicBezTo>
                  <a:lnTo>
                    <a:pt x="52435" y="149210"/>
                  </a:lnTo>
                  <a:cubicBezTo>
                    <a:pt x="38528" y="149210"/>
                    <a:pt x="25191" y="143686"/>
                    <a:pt x="15358" y="133852"/>
                  </a:cubicBezTo>
                  <a:cubicBezTo>
                    <a:pt x="5524" y="124019"/>
                    <a:pt x="0" y="110682"/>
                    <a:pt x="0" y="96775"/>
                  </a:cubicBezTo>
                  <a:lnTo>
                    <a:pt x="0" y="52435"/>
                  </a:lnTo>
                  <a:cubicBezTo>
                    <a:pt x="0" y="38528"/>
                    <a:pt x="5524" y="25191"/>
                    <a:pt x="15358" y="15358"/>
                  </a:cubicBezTo>
                  <a:cubicBezTo>
                    <a:pt x="25191" y="5524"/>
                    <a:pt x="38528" y="0"/>
                    <a:pt x="52435" y="0"/>
                  </a:cubicBezTo>
                  <a:close/>
                </a:path>
              </a:pathLst>
            </a:custGeom>
            <a:solidFill>
              <a:srgbClr val="CCFF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9494" y="362276"/>
            <a:ext cx="17609011" cy="984100"/>
            <a:chOff x="0" y="0"/>
            <a:chExt cx="4637764" cy="259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37764" cy="259187"/>
            </a:xfrm>
            <a:custGeom>
              <a:avLst/>
              <a:gdLst/>
              <a:ahLst/>
              <a:cxnLst/>
              <a:rect r="r" b="b" t="t" l="l"/>
              <a:pathLst>
                <a:path h="259187" w="4637764">
                  <a:moveTo>
                    <a:pt x="10112" y="0"/>
                  </a:moveTo>
                  <a:lnTo>
                    <a:pt x="4627652" y="0"/>
                  </a:lnTo>
                  <a:cubicBezTo>
                    <a:pt x="4633237" y="0"/>
                    <a:pt x="4637764" y="4527"/>
                    <a:pt x="4637764" y="10112"/>
                  </a:cubicBezTo>
                  <a:lnTo>
                    <a:pt x="4637764" y="249075"/>
                  </a:lnTo>
                  <a:cubicBezTo>
                    <a:pt x="4637764" y="254659"/>
                    <a:pt x="4633237" y="259187"/>
                    <a:pt x="4627652" y="259187"/>
                  </a:cubicBezTo>
                  <a:lnTo>
                    <a:pt x="10112" y="259187"/>
                  </a:lnTo>
                  <a:cubicBezTo>
                    <a:pt x="4527" y="259187"/>
                    <a:pt x="0" y="254659"/>
                    <a:pt x="0" y="249075"/>
                  </a:cubicBezTo>
                  <a:lnTo>
                    <a:pt x="0" y="10112"/>
                  </a:lnTo>
                  <a:cubicBezTo>
                    <a:pt x="0" y="4527"/>
                    <a:pt x="4527" y="0"/>
                    <a:pt x="10112" y="0"/>
                  </a:cubicBezTo>
                  <a:close/>
                </a:path>
              </a:pathLst>
            </a:custGeom>
            <a:solidFill>
              <a:srgbClr val="A6A6A6">
                <a:alpha val="5686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37764" cy="297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1477649" y="3170766"/>
            <a:ext cx="4570680" cy="4988464"/>
          </a:xfrm>
          <a:custGeom>
            <a:avLst/>
            <a:gdLst/>
            <a:ahLst/>
            <a:cxnLst/>
            <a:rect r="r" b="b" t="t" l="l"/>
            <a:pathLst>
              <a:path h="4988464" w="4570680">
                <a:moveTo>
                  <a:pt x="0" y="0"/>
                </a:moveTo>
                <a:lnTo>
                  <a:pt x="4570680" y="0"/>
                </a:lnTo>
                <a:lnTo>
                  <a:pt x="4570680" y="4988463"/>
                </a:lnTo>
                <a:lnTo>
                  <a:pt x="0" y="4988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07633" y="2173743"/>
            <a:ext cx="4601324" cy="3491254"/>
          </a:xfrm>
          <a:custGeom>
            <a:avLst/>
            <a:gdLst/>
            <a:ahLst/>
            <a:cxnLst/>
            <a:rect r="r" b="b" t="t" l="l"/>
            <a:pathLst>
              <a:path h="3491254" w="4601324">
                <a:moveTo>
                  <a:pt x="0" y="0"/>
                </a:moveTo>
                <a:lnTo>
                  <a:pt x="4601324" y="0"/>
                </a:lnTo>
                <a:lnTo>
                  <a:pt x="4601324" y="3491254"/>
                </a:lnTo>
                <a:lnTo>
                  <a:pt x="0" y="3491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592426" y="659090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56548" y="661303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64171" y="661303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97756" y="659090"/>
            <a:ext cx="2224975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056702" y="667317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05694" y="3490401"/>
            <a:ext cx="10901707" cy="1849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30"/>
              </a:lnSpc>
              <a:spcBef>
                <a:spcPct val="0"/>
              </a:spcBef>
            </a:pPr>
            <a:r>
              <a:rPr lang="en-US" sz="10807" spc="2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OPERATING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93031" y="5130408"/>
            <a:ext cx="12101938" cy="1456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57"/>
              </a:lnSpc>
              <a:spcBef>
                <a:spcPct val="0"/>
              </a:spcBef>
            </a:pPr>
            <a:r>
              <a:rPr lang="en-US" sz="8469" spc="1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SYSTEM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2965" y="9023000"/>
            <a:ext cx="3563726" cy="42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Dale Veranrd R. Balila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38714" y="9023000"/>
            <a:ext cx="5209792" cy="42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Andrei Something Encarnacion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0771" y="701346"/>
            <a:ext cx="1888114" cy="29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9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GROUP 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362137" y="9023000"/>
            <a:ext cx="3999752" cy="42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John Gabriel V. Calderon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9494" y="362276"/>
            <a:ext cx="17609011" cy="984100"/>
            <a:chOff x="0" y="0"/>
            <a:chExt cx="4637764" cy="2591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7764" cy="259187"/>
            </a:xfrm>
            <a:custGeom>
              <a:avLst/>
              <a:gdLst/>
              <a:ahLst/>
              <a:cxnLst/>
              <a:rect r="r" b="b" t="t" l="l"/>
              <a:pathLst>
                <a:path h="259187" w="4637764">
                  <a:moveTo>
                    <a:pt x="10112" y="0"/>
                  </a:moveTo>
                  <a:lnTo>
                    <a:pt x="4627652" y="0"/>
                  </a:lnTo>
                  <a:cubicBezTo>
                    <a:pt x="4633237" y="0"/>
                    <a:pt x="4637764" y="4527"/>
                    <a:pt x="4637764" y="10112"/>
                  </a:cubicBezTo>
                  <a:lnTo>
                    <a:pt x="4637764" y="249075"/>
                  </a:lnTo>
                  <a:cubicBezTo>
                    <a:pt x="4637764" y="254659"/>
                    <a:pt x="4633237" y="259187"/>
                    <a:pt x="4627652" y="259187"/>
                  </a:cubicBezTo>
                  <a:lnTo>
                    <a:pt x="10112" y="259187"/>
                  </a:lnTo>
                  <a:cubicBezTo>
                    <a:pt x="4527" y="259187"/>
                    <a:pt x="0" y="254659"/>
                    <a:pt x="0" y="249075"/>
                  </a:cubicBezTo>
                  <a:lnTo>
                    <a:pt x="0" y="10112"/>
                  </a:lnTo>
                  <a:cubicBezTo>
                    <a:pt x="0" y="4527"/>
                    <a:pt x="4527" y="0"/>
                    <a:pt x="10112" y="0"/>
                  </a:cubicBezTo>
                  <a:close/>
                </a:path>
              </a:pathLst>
            </a:custGeom>
            <a:solidFill>
              <a:srgbClr val="A6A6A6">
                <a:alpha val="5686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37764" cy="297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807633" y="571060"/>
            <a:ext cx="1919429" cy="566532"/>
            <a:chOff x="0" y="0"/>
            <a:chExt cx="505529" cy="1492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2435" y="0"/>
                  </a:moveTo>
                  <a:lnTo>
                    <a:pt x="453094" y="0"/>
                  </a:lnTo>
                  <a:cubicBezTo>
                    <a:pt x="467000" y="0"/>
                    <a:pt x="480337" y="5524"/>
                    <a:pt x="490171" y="15358"/>
                  </a:cubicBezTo>
                  <a:cubicBezTo>
                    <a:pt x="500004" y="25191"/>
                    <a:pt x="505529" y="38528"/>
                    <a:pt x="505529" y="52435"/>
                  </a:cubicBezTo>
                  <a:lnTo>
                    <a:pt x="505529" y="96775"/>
                  </a:lnTo>
                  <a:cubicBezTo>
                    <a:pt x="505529" y="110682"/>
                    <a:pt x="500004" y="124019"/>
                    <a:pt x="490171" y="133852"/>
                  </a:cubicBezTo>
                  <a:cubicBezTo>
                    <a:pt x="480337" y="143686"/>
                    <a:pt x="467000" y="149210"/>
                    <a:pt x="453094" y="149210"/>
                  </a:cubicBezTo>
                  <a:lnTo>
                    <a:pt x="52435" y="149210"/>
                  </a:lnTo>
                  <a:cubicBezTo>
                    <a:pt x="38528" y="149210"/>
                    <a:pt x="25191" y="143686"/>
                    <a:pt x="15358" y="133852"/>
                  </a:cubicBezTo>
                  <a:cubicBezTo>
                    <a:pt x="5524" y="124019"/>
                    <a:pt x="0" y="110682"/>
                    <a:pt x="0" y="96775"/>
                  </a:cubicBezTo>
                  <a:lnTo>
                    <a:pt x="0" y="52435"/>
                  </a:lnTo>
                  <a:cubicBezTo>
                    <a:pt x="0" y="38528"/>
                    <a:pt x="5524" y="25191"/>
                    <a:pt x="15358" y="15358"/>
                  </a:cubicBezTo>
                  <a:cubicBezTo>
                    <a:pt x="25191" y="5524"/>
                    <a:pt x="38528" y="0"/>
                    <a:pt x="52435" y="0"/>
                  </a:cubicBezTo>
                  <a:close/>
                </a:path>
              </a:pathLst>
            </a:custGeom>
            <a:solidFill>
              <a:srgbClr val="CCFF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793171" y="7336894"/>
            <a:ext cx="7435673" cy="5641817"/>
          </a:xfrm>
          <a:custGeom>
            <a:avLst/>
            <a:gdLst/>
            <a:ahLst/>
            <a:cxnLst/>
            <a:rect r="r" b="b" t="t" l="l"/>
            <a:pathLst>
              <a:path h="5641817" w="7435673">
                <a:moveTo>
                  <a:pt x="0" y="0"/>
                </a:moveTo>
                <a:lnTo>
                  <a:pt x="7435674" y="0"/>
                </a:lnTo>
                <a:lnTo>
                  <a:pt x="7435674" y="5641817"/>
                </a:lnTo>
                <a:lnTo>
                  <a:pt x="0" y="56418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592426" y="659090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56548" y="661303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64171" y="661303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97756" y="659090"/>
            <a:ext cx="2224975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56702" y="667317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0771" y="701346"/>
            <a:ext cx="1888114" cy="29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9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GROUP 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38703" y="2388843"/>
            <a:ext cx="12010594" cy="237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521"/>
              </a:lnSpc>
            </a:pPr>
            <a:r>
              <a:rPr lang="en-US" sz="6801" spc="13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PROJECT OVERVIEW</a:t>
            </a:r>
          </a:p>
          <a:p>
            <a:pPr algn="just">
              <a:lnSpc>
                <a:spcPts val="9521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4128324" y="4166085"/>
            <a:ext cx="12460883" cy="292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4"/>
              </a:lnSpc>
            </a:pPr>
            <a:r>
              <a:rPr lang="en-US" sz="2239" spc="-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Project objectives:</a:t>
            </a:r>
          </a:p>
          <a:p>
            <a:pPr algn="just" marL="483468" indent="-241734" lvl="1">
              <a:lnSpc>
                <a:spcPts val="3314"/>
              </a:lnSpc>
              <a:buFont typeface="Arial"/>
              <a:buChar char="•"/>
            </a:pPr>
            <a:r>
              <a:rPr lang="en-US" sz="2239" spc="-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Implement a full-screen desktop environment.</a:t>
            </a:r>
          </a:p>
          <a:p>
            <a:pPr algn="just" marL="483468" indent="-241734" lvl="1">
              <a:lnSpc>
                <a:spcPts val="3314"/>
              </a:lnSpc>
              <a:buFont typeface="Arial"/>
              <a:buChar char="•"/>
            </a:pPr>
            <a:r>
              <a:rPr lang="en-US" sz="2239" spc="-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Provide a taskbar with three interactive application buttons.</a:t>
            </a:r>
          </a:p>
          <a:p>
            <a:pPr algn="just" marL="483468" indent="-241734" lvl="1">
              <a:lnSpc>
                <a:spcPts val="3314"/>
              </a:lnSpc>
              <a:buFont typeface="Arial"/>
              <a:buChar char="•"/>
            </a:pPr>
            <a:r>
              <a:rPr lang="en-US" sz="2239" spc="-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two application screens: Notes and Settings.</a:t>
            </a:r>
          </a:p>
          <a:p>
            <a:pPr algn="just" marL="483468" indent="-241734" lvl="1">
              <a:lnSpc>
                <a:spcPts val="3314"/>
              </a:lnSpc>
              <a:buFont typeface="Arial"/>
              <a:buChar char="•"/>
            </a:pPr>
            <a:r>
              <a:rPr lang="en-US" sz="2239" spc="-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Implement a Task Manager with placeholder CPU and memory usage.</a:t>
            </a:r>
          </a:p>
          <a:p>
            <a:pPr algn="just" marL="483468" indent="-241734" lvl="1">
              <a:lnSpc>
                <a:spcPts val="3314"/>
              </a:lnSpc>
              <a:buFont typeface="Arial"/>
              <a:buChar char="•"/>
            </a:pPr>
            <a:r>
              <a:rPr lang="en-US" sz="2239" spc="-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Provide a real-time clock and a PWR shutdown confirmation.</a:t>
            </a:r>
          </a:p>
          <a:p>
            <a:pPr algn="just">
              <a:lnSpc>
                <a:spcPts val="3314"/>
              </a:lnSpc>
            </a:pPr>
          </a:p>
        </p:txBody>
      </p:sp>
      <p:sp>
        <p:nvSpPr>
          <p:cNvPr name="AutoShape 17" id="17"/>
          <p:cNvSpPr/>
          <p:nvPr/>
        </p:nvSpPr>
        <p:spPr>
          <a:xfrm flipV="true">
            <a:off x="-805080" y="3992827"/>
            <a:ext cx="19388492" cy="1286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-888374" y="6989264"/>
            <a:ext cx="19388492" cy="1286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-1162018">
            <a:off x="-1113115" y="7807132"/>
            <a:ext cx="4283629" cy="3946293"/>
          </a:xfrm>
          <a:custGeom>
            <a:avLst/>
            <a:gdLst/>
            <a:ahLst/>
            <a:cxnLst/>
            <a:rect r="r" b="b" t="t" l="l"/>
            <a:pathLst>
              <a:path h="3946293" w="4283629">
                <a:moveTo>
                  <a:pt x="0" y="0"/>
                </a:moveTo>
                <a:lnTo>
                  <a:pt x="4283630" y="0"/>
                </a:lnTo>
                <a:lnTo>
                  <a:pt x="4283630" y="3946293"/>
                </a:lnTo>
                <a:lnTo>
                  <a:pt x="0" y="39462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9494" y="362276"/>
            <a:ext cx="17609011" cy="984100"/>
            <a:chOff x="0" y="0"/>
            <a:chExt cx="4637764" cy="2591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7764" cy="259187"/>
            </a:xfrm>
            <a:custGeom>
              <a:avLst/>
              <a:gdLst/>
              <a:ahLst/>
              <a:cxnLst/>
              <a:rect r="r" b="b" t="t" l="l"/>
              <a:pathLst>
                <a:path h="259187" w="4637764">
                  <a:moveTo>
                    <a:pt x="10112" y="0"/>
                  </a:moveTo>
                  <a:lnTo>
                    <a:pt x="4627652" y="0"/>
                  </a:lnTo>
                  <a:cubicBezTo>
                    <a:pt x="4633237" y="0"/>
                    <a:pt x="4637764" y="4527"/>
                    <a:pt x="4637764" y="10112"/>
                  </a:cubicBezTo>
                  <a:lnTo>
                    <a:pt x="4637764" y="249075"/>
                  </a:lnTo>
                  <a:cubicBezTo>
                    <a:pt x="4637764" y="254659"/>
                    <a:pt x="4633237" y="259187"/>
                    <a:pt x="4627652" y="259187"/>
                  </a:cubicBezTo>
                  <a:lnTo>
                    <a:pt x="10112" y="259187"/>
                  </a:lnTo>
                  <a:cubicBezTo>
                    <a:pt x="4527" y="259187"/>
                    <a:pt x="0" y="254659"/>
                    <a:pt x="0" y="249075"/>
                  </a:cubicBezTo>
                  <a:lnTo>
                    <a:pt x="0" y="10112"/>
                  </a:lnTo>
                  <a:cubicBezTo>
                    <a:pt x="0" y="4527"/>
                    <a:pt x="4527" y="0"/>
                    <a:pt x="10112" y="0"/>
                  </a:cubicBezTo>
                  <a:close/>
                </a:path>
              </a:pathLst>
            </a:custGeom>
            <a:solidFill>
              <a:srgbClr val="A6A6A6">
                <a:alpha val="5686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37764" cy="297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807633" y="571060"/>
            <a:ext cx="1919429" cy="566532"/>
            <a:chOff x="0" y="0"/>
            <a:chExt cx="505529" cy="1492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2435" y="0"/>
                  </a:moveTo>
                  <a:lnTo>
                    <a:pt x="453094" y="0"/>
                  </a:lnTo>
                  <a:cubicBezTo>
                    <a:pt x="467000" y="0"/>
                    <a:pt x="480337" y="5524"/>
                    <a:pt x="490171" y="15358"/>
                  </a:cubicBezTo>
                  <a:cubicBezTo>
                    <a:pt x="500004" y="25191"/>
                    <a:pt x="505529" y="38528"/>
                    <a:pt x="505529" y="52435"/>
                  </a:cubicBezTo>
                  <a:lnTo>
                    <a:pt x="505529" y="96775"/>
                  </a:lnTo>
                  <a:cubicBezTo>
                    <a:pt x="505529" y="110682"/>
                    <a:pt x="500004" y="124019"/>
                    <a:pt x="490171" y="133852"/>
                  </a:cubicBezTo>
                  <a:cubicBezTo>
                    <a:pt x="480337" y="143686"/>
                    <a:pt x="467000" y="149210"/>
                    <a:pt x="453094" y="149210"/>
                  </a:cubicBezTo>
                  <a:lnTo>
                    <a:pt x="52435" y="149210"/>
                  </a:lnTo>
                  <a:cubicBezTo>
                    <a:pt x="38528" y="149210"/>
                    <a:pt x="25191" y="143686"/>
                    <a:pt x="15358" y="133852"/>
                  </a:cubicBezTo>
                  <a:cubicBezTo>
                    <a:pt x="5524" y="124019"/>
                    <a:pt x="0" y="110682"/>
                    <a:pt x="0" y="96775"/>
                  </a:cubicBezTo>
                  <a:lnTo>
                    <a:pt x="0" y="52435"/>
                  </a:lnTo>
                  <a:cubicBezTo>
                    <a:pt x="0" y="38528"/>
                    <a:pt x="5524" y="25191"/>
                    <a:pt x="15358" y="15358"/>
                  </a:cubicBezTo>
                  <a:cubicBezTo>
                    <a:pt x="25191" y="5524"/>
                    <a:pt x="38528" y="0"/>
                    <a:pt x="52435" y="0"/>
                  </a:cubicBezTo>
                  <a:close/>
                </a:path>
              </a:pathLst>
            </a:custGeom>
            <a:solidFill>
              <a:srgbClr val="CCFF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64824" y="1346376"/>
            <a:ext cx="13958353" cy="8285828"/>
            <a:chOff x="0" y="0"/>
            <a:chExt cx="3023127" cy="17945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23127" cy="1794561"/>
            </a:xfrm>
            <a:custGeom>
              <a:avLst/>
              <a:gdLst/>
              <a:ahLst/>
              <a:cxnLst/>
              <a:rect r="r" b="b" t="t" l="l"/>
              <a:pathLst>
                <a:path h="1794561" w="3023127">
                  <a:moveTo>
                    <a:pt x="36607" y="0"/>
                  </a:moveTo>
                  <a:lnTo>
                    <a:pt x="2986521" y="0"/>
                  </a:lnTo>
                  <a:cubicBezTo>
                    <a:pt x="3006738" y="0"/>
                    <a:pt x="3023127" y="16389"/>
                    <a:pt x="3023127" y="36607"/>
                  </a:cubicBezTo>
                  <a:lnTo>
                    <a:pt x="3023127" y="1757955"/>
                  </a:lnTo>
                  <a:cubicBezTo>
                    <a:pt x="3023127" y="1767663"/>
                    <a:pt x="3019271" y="1776974"/>
                    <a:pt x="3012406" y="1783839"/>
                  </a:cubicBezTo>
                  <a:cubicBezTo>
                    <a:pt x="3005541" y="1790704"/>
                    <a:pt x="2996230" y="1794561"/>
                    <a:pt x="2986521" y="1794561"/>
                  </a:cubicBezTo>
                  <a:lnTo>
                    <a:pt x="36607" y="1794561"/>
                  </a:lnTo>
                  <a:cubicBezTo>
                    <a:pt x="26898" y="1794561"/>
                    <a:pt x="17587" y="1790704"/>
                    <a:pt x="10722" y="1783839"/>
                  </a:cubicBezTo>
                  <a:cubicBezTo>
                    <a:pt x="3857" y="1776974"/>
                    <a:pt x="0" y="1767663"/>
                    <a:pt x="0" y="1757955"/>
                  </a:cubicBezTo>
                  <a:lnTo>
                    <a:pt x="0" y="36607"/>
                  </a:lnTo>
                  <a:cubicBezTo>
                    <a:pt x="0" y="26898"/>
                    <a:pt x="3857" y="17587"/>
                    <a:pt x="10722" y="10722"/>
                  </a:cubicBezTo>
                  <a:cubicBezTo>
                    <a:pt x="17587" y="3857"/>
                    <a:pt x="26898" y="0"/>
                    <a:pt x="36607" y="0"/>
                  </a:cubicBezTo>
                  <a:close/>
                </a:path>
              </a:pathLst>
            </a:custGeom>
            <a:blipFill>
              <a:blip r:embed="rId2"/>
              <a:stretch>
                <a:fillRect l="-4128" t="0" r="-140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592426" y="659090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56548" y="661303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64171" y="661303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97756" y="659090"/>
            <a:ext cx="2224975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056702" y="667317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91529" y="8809244"/>
            <a:ext cx="12704942" cy="116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521"/>
              </a:lnSpc>
              <a:spcBef>
                <a:spcPct val="0"/>
              </a:spcBef>
            </a:pPr>
            <a:r>
              <a:rPr lang="en-US" sz="6801" spc="13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VIDEO WALKTHROUGH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0771" y="701346"/>
            <a:ext cx="1888114" cy="29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9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GROUP 5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9494" y="362276"/>
            <a:ext cx="17609011" cy="984100"/>
            <a:chOff x="0" y="0"/>
            <a:chExt cx="4637764" cy="2591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7764" cy="259187"/>
            </a:xfrm>
            <a:custGeom>
              <a:avLst/>
              <a:gdLst/>
              <a:ahLst/>
              <a:cxnLst/>
              <a:rect r="r" b="b" t="t" l="l"/>
              <a:pathLst>
                <a:path h="259187" w="4637764">
                  <a:moveTo>
                    <a:pt x="10112" y="0"/>
                  </a:moveTo>
                  <a:lnTo>
                    <a:pt x="4627652" y="0"/>
                  </a:lnTo>
                  <a:cubicBezTo>
                    <a:pt x="4633237" y="0"/>
                    <a:pt x="4637764" y="4527"/>
                    <a:pt x="4637764" y="10112"/>
                  </a:cubicBezTo>
                  <a:lnTo>
                    <a:pt x="4637764" y="249075"/>
                  </a:lnTo>
                  <a:cubicBezTo>
                    <a:pt x="4637764" y="254659"/>
                    <a:pt x="4633237" y="259187"/>
                    <a:pt x="4627652" y="259187"/>
                  </a:cubicBezTo>
                  <a:lnTo>
                    <a:pt x="10112" y="259187"/>
                  </a:lnTo>
                  <a:cubicBezTo>
                    <a:pt x="4527" y="259187"/>
                    <a:pt x="0" y="254659"/>
                    <a:pt x="0" y="249075"/>
                  </a:cubicBezTo>
                  <a:lnTo>
                    <a:pt x="0" y="10112"/>
                  </a:lnTo>
                  <a:cubicBezTo>
                    <a:pt x="0" y="4527"/>
                    <a:pt x="4527" y="0"/>
                    <a:pt x="10112" y="0"/>
                  </a:cubicBezTo>
                  <a:close/>
                </a:path>
              </a:pathLst>
            </a:custGeom>
            <a:solidFill>
              <a:srgbClr val="A6A6A6">
                <a:alpha val="5686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37764" cy="297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807633" y="571060"/>
            <a:ext cx="1919429" cy="566532"/>
            <a:chOff x="0" y="0"/>
            <a:chExt cx="505529" cy="1492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2435" y="0"/>
                  </a:moveTo>
                  <a:lnTo>
                    <a:pt x="453094" y="0"/>
                  </a:lnTo>
                  <a:cubicBezTo>
                    <a:pt x="467000" y="0"/>
                    <a:pt x="480337" y="5524"/>
                    <a:pt x="490171" y="15358"/>
                  </a:cubicBezTo>
                  <a:cubicBezTo>
                    <a:pt x="500004" y="25191"/>
                    <a:pt x="505529" y="38528"/>
                    <a:pt x="505529" y="52435"/>
                  </a:cubicBezTo>
                  <a:lnTo>
                    <a:pt x="505529" y="96775"/>
                  </a:lnTo>
                  <a:cubicBezTo>
                    <a:pt x="505529" y="110682"/>
                    <a:pt x="500004" y="124019"/>
                    <a:pt x="490171" y="133852"/>
                  </a:cubicBezTo>
                  <a:cubicBezTo>
                    <a:pt x="480337" y="143686"/>
                    <a:pt x="467000" y="149210"/>
                    <a:pt x="453094" y="149210"/>
                  </a:cubicBezTo>
                  <a:lnTo>
                    <a:pt x="52435" y="149210"/>
                  </a:lnTo>
                  <a:cubicBezTo>
                    <a:pt x="38528" y="149210"/>
                    <a:pt x="25191" y="143686"/>
                    <a:pt x="15358" y="133852"/>
                  </a:cubicBezTo>
                  <a:cubicBezTo>
                    <a:pt x="5524" y="124019"/>
                    <a:pt x="0" y="110682"/>
                    <a:pt x="0" y="96775"/>
                  </a:cubicBezTo>
                  <a:lnTo>
                    <a:pt x="0" y="52435"/>
                  </a:lnTo>
                  <a:cubicBezTo>
                    <a:pt x="0" y="38528"/>
                    <a:pt x="5524" y="25191"/>
                    <a:pt x="15358" y="15358"/>
                  </a:cubicBezTo>
                  <a:cubicBezTo>
                    <a:pt x="25191" y="5524"/>
                    <a:pt x="38528" y="0"/>
                    <a:pt x="52435" y="0"/>
                  </a:cubicBezTo>
                  <a:close/>
                </a:path>
              </a:pathLst>
            </a:custGeom>
            <a:solidFill>
              <a:srgbClr val="CCFF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64824" y="1346376"/>
            <a:ext cx="13958353" cy="8285828"/>
            <a:chOff x="0" y="0"/>
            <a:chExt cx="3023127" cy="17945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23127" cy="1794561"/>
            </a:xfrm>
            <a:custGeom>
              <a:avLst/>
              <a:gdLst/>
              <a:ahLst/>
              <a:cxnLst/>
              <a:rect r="r" b="b" t="t" l="l"/>
              <a:pathLst>
                <a:path h="1794561" w="3023127">
                  <a:moveTo>
                    <a:pt x="36607" y="0"/>
                  </a:moveTo>
                  <a:lnTo>
                    <a:pt x="2986521" y="0"/>
                  </a:lnTo>
                  <a:cubicBezTo>
                    <a:pt x="3006738" y="0"/>
                    <a:pt x="3023127" y="16389"/>
                    <a:pt x="3023127" y="36607"/>
                  </a:cubicBezTo>
                  <a:lnTo>
                    <a:pt x="3023127" y="1757955"/>
                  </a:lnTo>
                  <a:cubicBezTo>
                    <a:pt x="3023127" y="1767663"/>
                    <a:pt x="3019271" y="1776974"/>
                    <a:pt x="3012406" y="1783839"/>
                  </a:cubicBezTo>
                  <a:cubicBezTo>
                    <a:pt x="3005541" y="1790704"/>
                    <a:pt x="2996230" y="1794561"/>
                    <a:pt x="2986521" y="1794561"/>
                  </a:cubicBezTo>
                  <a:lnTo>
                    <a:pt x="36607" y="1794561"/>
                  </a:lnTo>
                  <a:cubicBezTo>
                    <a:pt x="26898" y="1794561"/>
                    <a:pt x="17587" y="1790704"/>
                    <a:pt x="10722" y="1783839"/>
                  </a:cubicBezTo>
                  <a:cubicBezTo>
                    <a:pt x="3857" y="1776974"/>
                    <a:pt x="0" y="1767663"/>
                    <a:pt x="0" y="1757955"/>
                  </a:cubicBezTo>
                  <a:lnTo>
                    <a:pt x="0" y="36607"/>
                  </a:lnTo>
                  <a:cubicBezTo>
                    <a:pt x="0" y="26898"/>
                    <a:pt x="3857" y="17587"/>
                    <a:pt x="10722" y="10722"/>
                  </a:cubicBezTo>
                  <a:cubicBezTo>
                    <a:pt x="17587" y="3857"/>
                    <a:pt x="26898" y="0"/>
                    <a:pt x="36607" y="0"/>
                  </a:cubicBezTo>
                  <a:close/>
                </a:path>
              </a:pathLst>
            </a:custGeom>
            <a:blipFill>
              <a:blip r:embed="rId2"/>
              <a:stretch>
                <a:fillRect l="-2765" t="0" r="-276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592426" y="659090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56548" y="661303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64171" y="661303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97756" y="659090"/>
            <a:ext cx="2224975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056702" y="667317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91529" y="8809244"/>
            <a:ext cx="12704942" cy="116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521"/>
              </a:lnSpc>
              <a:spcBef>
                <a:spcPct val="0"/>
              </a:spcBef>
            </a:pPr>
            <a:r>
              <a:rPr lang="en-US" sz="6801" spc="13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VIDEO WALKTHROUGH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0771" y="701346"/>
            <a:ext cx="1888114" cy="29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9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GROUP 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61652" y="1687254"/>
            <a:ext cx="6234045" cy="1513398"/>
            <a:chOff x="0" y="0"/>
            <a:chExt cx="1641888" cy="3985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1889" cy="398590"/>
            </a:xfrm>
            <a:custGeom>
              <a:avLst/>
              <a:gdLst/>
              <a:ahLst/>
              <a:cxnLst/>
              <a:rect r="r" b="b" t="t" l="l"/>
              <a:pathLst>
                <a:path h="398590" w="1641889">
                  <a:moveTo>
                    <a:pt x="63336" y="0"/>
                  </a:moveTo>
                  <a:lnTo>
                    <a:pt x="1578553" y="0"/>
                  </a:lnTo>
                  <a:cubicBezTo>
                    <a:pt x="1595350" y="0"/>
                    <a:pt x="1611460" y="6673"/>
                    <a:pt x="1623338" y="18551"/>
                  </a:cubicBezTo>
                  <a:cubicBezTo>
                    <a:pt x="1635216" y="30428"/>
                    <a:pt x="1641889" y="46538"/>
                    <a:pt x="1641889" y="63336"/>
                  </a:cubicBezTo>
                  <a:lnTo>
                    <a:pt x="1641889" y="335255"/>
                  </a:lnTo>
                  <a:cubicBezTo>
                    <a:pt x="1641889" y="370234"/>
                    <a:pt x="1613532" y="398590"/>
                    <a:pt x="1578553" y="398590"/>
                  </a:cubicBezTo>
                  <a:lnTo>
                    <a:pt x="63336" y="398590"/>
                  </a:lnTo>
                  <a:cubicBezTo>
                    <a:pt x="28356" y="398590"/>
                    <a:pt x="0" y="370234"/>
                    <a:pt x="0" y="335255"/>
                  </a:cubicBezTo>
                  <a:lnTo>
                    <a:pt x="0" y="63336"/>
                  </a:lnTo>
                  <a:cubicBezTo>
                    <a:pt x="0" y="46538"/>
                    <a:pt x="6673" y="30428"/>
                    <a:pt x="18551" y="18551"/>
                  </a:cubicBezTo>
                  <a:cubicBezTo>
                    <a:pt x="30428" y="6673"/>
                    <a:pt x="46538" y="0"/>
                    <a:pt x="63336" y="0"/>
                  </a:cubicBezTo>
                  <a:close/>
                </a:path>
              </a:pathLst>
            </a:custGeom>
            <a:solidFill>
              <a:srgbClr val="CCFF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41888" cy="436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939888">
            <a:off x="15098289" y="2266179"/>
            <a:ext cx="5059532" cy="5567573"/>
          </a:xfrm>
          <a:custGeom>
            <a:avLst/>
            <a:gdLst/>
            <a:ahLst/>
            <a:cxnLst/>
            <a:rect r="r" b="b" t="t" l="l"/>
            <a:pathLst>
              <a:path h="5567573" w="5059532">
                <a:moveTo>
                  <a:pt x="0" y="0"/>
                </a:moveTo>
                <a:lnTo>
                  <a:pt x="5059532" y="0"/>
                </a:lnTo>
                <a:lnTo>
                  <a:pt x="5059532" y="5567573"/>
                </a:lnTo>
                <a:lnTo>
                  <a:pt x="0" y="5567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679305">
            <a:off x="-2352003" y="3055646"/>
            <a:ext cx="4283629" cy="3946293"/>
          </a:xfrm>
          <a:custGeom>
            <a:avLst/>
            <a:gdLst/>
            <a:ahLst/>
            <a:cxnLst/>
            <a:rect r="r" b="b" t="t" l="l"/>
            <a:pathLst>
              <a:path h="3946293" w="4283629">
                <a:moveTo>
                  <a:pt x="0" y="0"/>
                </a:moveTo>
                <a:lnTo>
                  <a:pt x="4283629" y="0"/>
                </a:lnTo>
                <a:lnTo>
                  <a:pt x="4283629" y="3946293"/>
                </a:lnTo>
                <a:lnTo>
                  <a:pt x="0" y="39462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061652" y="3395232"/>
            <a:ext cx="6234045" cy="1513398"/>
            <a:chOff x="0" y="0"/>
            <a:chExt cx="1641888" cy="3985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1889" cy="398590"/>
            </a:xfrm>
            <a:custGeom>
              <a:avLst/>
              <a:gdLst/>
              <a:ahLst/>
              <a:cxnLst/>
              <a:rect r="r" b="b" t="t" l="l"/>
              <a:pathLst>
                <a:path h="398590" w="1641889">
                  <a:moveTo>
                    <a:pt x="63336" y="0"/>
                  </a:moveTo>
                  <a:lnTo>
                    <a:pt x="1578553" y="0"/>
                  </a:lnTo>
                  <a:cubicBezTo>
                    <a:pt x="1595350" y="0"/>
                    <a:pt x="1611460" y="6673"/>
                    <a:pt x="1623338" y="18551"/>
                  </a:cubicBezTo>
                  <a:cubicBezTo>
                    <a:pt x="1635216" y="30428"/>
                    <a:pt x="1641889" y="46538"/>
                    <a:pt x="1641889" y="63336"/>
                  </a:cubicBezTo>
                  <a:lnTo>
                    <a:pt x="1641889" y="335255"/>
                  </a:lnTo>
                  <a:cubicBezTo>
                    <a:pt x="1641889" y="370234"/>
                    <a:pt x="1613532" y="398590"/>
                    <a:pt x="1578553" y="398590"/>
                  </a:cubicBezTo>
                  <a:lnTo>
                    <a:pt x="63336" y="398590"/>
                  </a:lnTo>
                  <a:cubicBezTo>
                    <a:pt x="28356" y="398590"/>
                    <a:pt x="0" y="370234"/>
                    <a:pt x="0" y="335255"/>
                  </a:cubicBezTo>
                  <a:lnTo>
                    <a:pt x="0" y="63336"/>
                  </a:lnTo>
                  <a:cubicBezTo>
                    <a:pt x="0" y="46538"/>
                    <a:pt x="6673" y="30428"/>
                    <a:pt x="18551" y="18551"/>
                  </a:cubicBezTo>
                  <a:cubicBezTo>
                    <a:pt x="30428" y="6673"/>
                    <a:pt x="46538" y="0"/>
                    <a:pt x="63336" y="0"/>
                  </a:cubicBezTo>
                  <a:close/>
                </a:path>
              </a:pathLst>
            </a:custGeom>
            <a:solidFill>
              <a:srgbClr val="FFF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41888" cy="436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061652" y="5103211"/>
            <a:ext cx="6234045" cy="1513398"/>
            <a:chOff x="0" y="0"/>
            <a:chExt cx="1641888" cy="3985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1889" cy="398590"/>
            </a:xfrm>
            <a:custGeom>
              <a:avLst/>
              <a:gdLst/>
              <a:ahLst/>
              <a:cxnLst/>
              <a:rect r="r" b="b" t="t" l="l"/>
              <a:pathLst>
                <a:path h="398590" w="1641889">
                  <a:moveTo>
                    <a:pt x="63336" y="0"/>
                  </a:moveTo>
                  <a:lnTo>
                    <a:pt x="1578553" y="0"/>
                  </a:lnTo>
                  <a:cubicBezTo>
                    <a:pt x="1595350" y="0"/>
                    <a:pt x="1611460" y="6673"/>
                    <a:pt x="1623338" y="18551"/>
                  </a:cubicBezTo>
                  <a:cubicBezTo>
                    <a:pt x="1635216" y="30428"/>
                    <a:pt x="1641889" y="46538"/>
                    <a:pt x="1641889" y="63336"/>
                  </a:cubicBezTo>
                  <a:lnTo>
                    <a:pt x="1641889" y="335255"/>
                  </a:lnTo>
                  <a:cubicBezTo>
                    <a:pt x="1641889" y="370234"/>
                    <a:pt x="1613532" y="398590"/>
                    <a:pt x="1578553" y="398590"/>
                  </a:cubicBezTo>
                  <a:lnTo>
                    <a:pt x="63336" y="398590"/>
                  </a:lnTo>
                  <a:cubicBezTo>
                    <a:pt x="28356" y="398590"/>
                    <a:pt x="0" y="370234"/>
                    <a:pt x="0" y="335255"/>
                  </a:cubicBezTo>
                  <a:lnTo>
                    <a:pt x="0" y="63336"/>
                  </a:lnTo>
                  <a:cubicBezTo>
                    <a:pt x="0" y="46538"/>
                    <a:pt x="6673" y="30428"/>
                    <a:pt x="18551" y="18551"/>
                  </a:cubicBezTo>
                  <a:cubicBezTo>
                    <a:pt x="30428" y="6673"/>
                    <a:pt x="46538" y="0"/>
                    <a:pt x="63336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41888" cy="436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39494" y="362276"/>
            <a:ext cx="17609011" cy="984100"/>
            <a:chOff x="0" y="0"/>
            <a:chExt cx="23478682" cy="1312133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3478682" cy="1312133"/>
              <a:chOff x="0" y="0"/>
              <a:chExt cx="4637764" cy="25918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637764" cy="259187"/>
              </a:xfrm>
              <a:custGeom>
                <a:avLst/>
                <a:gdLst/>
                <a:ahLst/>
                <a:cxnLst/>
                <a:rect r="r" b="b" t="t" l="l"/>
                <a:pathLst>
                  <a:path h="259187" w="4637764">
                    <a:moveTo>
                      <a:pt x="10112" y="0"/>
                    </a:moveTo>
                    <a:lnTo>
                      <a:pt x="4627652" y="0"/>
                    </a:lnTo>
                    <a:cubicBezTo>
                      <a:pt x="4633237" y="0"/>
                      <a:pt x="4637764" y="4527"/>
                      <a:pt x="4637764" y="10112"/>
                    </a:cubicBezTo>
                    <a:lnTo>
                      <a:pt x="4637764" y="249075"/>
                    </a:lnTo>
                    <a:cubicBezTo>
                      <a:pt x="4637764" y="254659"/>
                      <a:pt x="4633237" y="259187"/>
                      <a:pt x="4627652" y="259187"/>
                    </a:cubicBezTo>
                    <a:lnTo>
                      <a:pt x="10112" y="259187"/>
                    </a:lnTo>
                    <a:cubicBezTo>
                      <a:pt x="4527" y="259187"/>
                      <a:pt x="0" y="254659"/>
                      <a:pt x="0" y="249075"/>
                    </a:cubicBezTo>
                    <a:lnTo>
                      <a:pt x="0" y="10112"/>
                    </a:lnTo>
                    <a:cubicBezTo>
                      <a:pt x="0" y="4527"/>
                      <a:pt x="4527" y="0"/>
                      <a:pt x="10112" y="0"/>
                    </a:cubicBezTo>
                    <a:close/>
                  </a:path>
                </a:pathLst>
              </a:custGeom>
              <a:solidFill>
                <a:srgbClr val="A6A6A6">
                  <a:alpha val="56863"/>
                </a:srgbClr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4637764" cy="2972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1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8149203" y="411403"/>
              <a:ext cx="7209904" cy="4512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1"/>
                </a:lnSpc>
                <a:spcBef>
                  <a:spcPct val="0"/>
                </a:spcBef>
              </a:pPr>
              <a:r>
                <a:rPr lang="en-US" b="true" sz="2051" spc="4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SYSTEM ARCHITECTURE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807633" y="571060"/>
            <a:ext cx="1919429" cy="566532"/>
            <a:chOff x="0" y="0"/>
            <a:chExt cx="2559239" cy="75537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2559239" cy="755376"/>
              <a:chOff x="0" y="0"/>
              <a:chExt cx="505529" cy="14921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05529" cy="149210"/>
              </a:xfrm>
              <a:custGeom>
                <a:avLst/>
                <a:gdLst/>
                <a:ahLst/>
                <a:cxnLst/>
                <a:rect r="r" b="b" t="t" l="l"/>
                <a:pathLst>
                  <a:path h="149210" w="505529">
                    <a:moveTo>
                      <a:pt x="52435" y="0"/>
                    </a:moveTo>
                    <a:lnTo>
                      <a:pt x="453094" y="0"/>
                    </a:lnTo>
                    <a:cubicBezTo>
                      <a:pt x="467000" y="0"/>
                      <a:pt x="480337" y="5524"/>
                      <a:pt x="490171" y="15358"/>
                    </a:cubicBezTo>
                    <a:cubicBezTo>
                      <a:pt x="500004" y="25191"/>
                      <a:pt x="505529" y="38528"/>
                      <a:pt x="505529" y="52435"/>
                    </a:cubicBezTo>
                    <a:lnTo>
                      <a:pt x="505529" y="96775"/>
                    </a:lnTo>
                    <a:cubicBezTo>
                      <a:pt x="505529" y="110682"/>
                      <a:pt x="500004" y="124019"/>
                      <a:pt x="490171" y="133852"/>
                    </a:cubicBezTo>
                    <a:cubicBezTo>
                      <a:pt x="480337" y="143686"/>
                      <a:pt x="467000" y="149210"/>
                      <a:pt x="453094" y="149210"/>
                    </a:cubicBezTo>
                    <a:lnTo>
                      <a:pt x="52435" y="149210"/>
                    </a:lnTo>
                    <a:cubicBezTo>
                      <a:pt x="38528" y="149210"/>
                      <a:pt x="25191" y="143686"/>
                      <a:pt x="15358" y="133852"/>
                    </a:cubicBezTo>
                    <a:cubicBezTo>
                      <a:pt x="5524" y="124019"/>
                      <a:pt x="0" y="110682"/>
                      <a:pt x="0" y="96775"/>
                    </a:cubicBezTo>
                    <a:lnTo>
                      <a:pt x="0" y="52435"/>
                    </a:lnTo>
                    <a:cubicBezTo>
                      <a:pt x="0" y="38528"/>
                      <a:pt x="5524" y="25191"/>
                      <a:pt x="15358" y="15358"/>
                    </a:cubicBezTo>
                    <a:cubicBezTo>
                      <a:pt x="25191" y="5524"/>
                      <a:pt x="38528" y="0"/>
                      <a:pt x="52435" y="0"/>
                    </a:cubicBezTo>
                    <a:close/>
                  </a:path>
                </a:pathLst>
              </a:custGeom>
              <a:solidFill>
                <a:srgbClr val="CCFF00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505529" cy="1873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32093" y="137868"/>
              <a:ext cx="1895054" cy="430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 spc="3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Page 04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096327" y="8472466"/>
            <a:ext cx="6234045" cy="1513398"/>
            <a:chOff x="0" y="0"/>
            <a:chExt cx="1641888" cy="3985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41889" cy="398590"/>
            </a:xfrm>
            <a:custGeom>
              <a:avLst/>
              <a:gdLst/>
              <a:ahLst/>
              <a:cxnLst/>
              <a:rect r="r" b="b" t="t" l="l"/>
              <a:pathLst>
                <a:path h="398590" w="1641889">
                  <a:moveTo>
                    <a:pt x="63336" y="0"/>
                  </a:moveTo>
                  <a:lnTo>
                    <a:pt x="1578553" y="0"/>
                  </a:lnTo>
                  <a:cubicBezTo>
                    <a:pt x="1595350" y="0"/>
                    <a:pt x="1611460" y="6673"/>
                    <a:pt x="1623338" y="18551"/>
                  </a:cubicBezTo>
                  <a:cubicBezTo>
                    <a:pt x="1635216" y="30428"/>
                    <a:pt x="1641889" y="46538"/>
                    <a:pt x="1641889" y="63336"/>
                  </a:cubicBezTo>
                  <a:lnTo>
                    <a:pt x="1641889" y="335255"/>
                  </a:lnTo>
                  <a:cubicBezTo>
                    <a:pt x="1641889" y="370234"/>
                    <a:pt x="1613532" y="398590"/>
                    <a:pt x="1578553" y="398590"/>
                  </a:cubicBezTo>
                  <a:lnTo>
                    <a:pt x="63336" y="398590"/>
                  </a:lnTo>
                  <a:cubicBezTo>
                    <a:pt x="28356" y="398590"/>
                    <a:pt x="0" y="370234"/>
                    <a:pt x="0" y="335255"/>
                  </a:cubicBezTo>
                  <a:lnTo>
                    <a:pt x="0" y="63336"/>
                  </a:lnTo>
                  <a:cubicBezTo>
                    <a:pt x="0" y="46538"/>
                    <a:pt x="6673" y="30428"/>
                    <a:pt x="18551" y="18551"/>
                  </a:cubicBezTo>
                  <a:cubicBezTo>
                    <a:pt x="30428" y="6673"/>
                    <a:pt x="46538" y="0"/>
                    <a:pt x="63336" y="0"/>
                  </a:cubicBezTo>
                  <a:close/>
                </a:path>
              </a:pathLst>
            </a:custGeom>
            <a:solidFill>
              <a:srgbClr val="FF63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641888" cy="436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288769" y="6707438"/>
            <a:ext cx="1016883" cy="1338004"/>
          </a:xfrm>
          <a:custGeom>
            <a:avLst/>
            <a:gdLst/>
            <a:ahLst/>
            <a:cxnLst/>
            <a:rect r="r" b="b" t="t" l="l"/>
            <a:pathLst>
              <a:path h="1338004" w="1016883">
                <a:moveTo>
                  <a:pt x="0" y="0"/>
                </a:moveTo>
                <a:lnTo>
                  <a:pt x="1016883" y="0"/>
                </a:lnTo>
                <a:lnTo>
                  <a:pt x="1016883" y="1338004"/>
                </a:lnTo>
                <a:lnTo>
                  <a:pt x="0" y="13380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553427" y="6785867"/>
            <a:ext cx="1181146" cy="1181146"/>
          </a:xfrm>
          <a:custGeom>
            <a:avLst/>
            <a:gdLst/>
            <a:ahLst/>
            <a:cxnLst/>
            <a:rect r="r" b="b" t="t" l="l"/>
            <a:pathLst>
              <a:path h="1181146" w="1181146">
                <a:moveTo>
                  <a:pt x="0" y="0"/>
                </a:moveTo>
                <a:lnTo>
                  <a:pt x="1181146" y="0"/>
                </a:lnTo>
                <a:lnTo>
                  <a:pt x="1181146" y="1181146"/>
                </a:lnTo>
                <a:lnTo>
                  <a:pt x="0" y="11811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982348" y="6820592"/>
            <a:ext cx="1111697" cy="1111697"/>
          </a:xfrm>
          <a:custGeom>
            <a:avLst/>
            <a:gdLst/>
            <a:ahLst/>
            <a:cxnLst/>
            <a:rect r="r" b="b" t="t" l="l"/>
            <a:pathLst>
              <a:path h="1111697" w="1111697">
                <a:moveTo>
                  <a:pt x="0" y="0"/>
                </a:moveTo>
                <a:lnTo>
                  <a:pt x="1111697" y="0"/>
                </a:lnTo>
                <a:lnTo>
                  <a:pt x="1111697" y="1111697"/>
                </a:lnTo>
                <a:lnTo>
                  <a:pt x="0" y="11116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924466" y="2132177"/>
            <a:ext cx="12439067" cy="66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3"/>
              </a:lnSpc>
            </a:pPr>
            <a:r>
              <a:rPr lang="en-US" b="true" sz="2199" spc="-15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Main Application (main())</a:t>
            </a:r>
          </a:p>
          <a:p>
            <a:pPr algn="ctr">
              <a:lnSpc>
                <a:spcPts val="2683"/>
              </a:lnSpc>
            </a:pPr>
            <a:r>
              <a:rPr lang="en-US" sz="2199" spc="-15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GLFW initialization · ImGui setup · Main loop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24466" y="3840156"/>
            <a:ext cx="12439067" cy="99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3"/>
              </a:lnSpc>
            </a:pPr>
            <a:r>
              <a:rPr lang="en-US" b="true" sz="2199" spc="-15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Desktop Rendering Layer</a:t>
            </a:r>
          </a:p>
          <a:p>
            <a:pPr algn="ctr">
              <a:lnSpc>
                <a:spcPts val="2683"/>
              </a:lnSpc>
            </a:pPr>
            <a:r>
              <a:rPr lang="en-US" sz="2199" spc="-15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Gradient wallpaper · Dot pattern · Desktop title</a:t>
            </a:r>
          </a:p>
          <a:p>
            <a:pPr algn="ctr">
              <a:lnSpc>
                <a:spcPts val="2683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924466" y="5548134"/>
            <a:ext cx="12439067" cy="99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3"/>
              </a:lnSpc>
            </a:pPr>
            <a:r>
              <a:rPr lang="en-US" b="true" sz="2199" spc="-15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Taskbar and System Controls</a:t>
            </a:r>
          </a:p>
          <a:p>
            <a:pPr algn="ctr">
              <a:lnSpc>
                <a:spcPts val="2683"/>
              </a:lnSpc>
            </a:pPr>
            <a:r>
              <a:rPr lang="en-US" sz="2199" spc="-15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PWR · Notes · Settings · Task Manager · Clock</a:t>
            </a:r>
          </a:p>
          <a:p>
            <a:pPr algn="ctr">
              <a:lnSpc>
                <a:spcPts val="2683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881221" y="8716222"/>
            <a:ext cx="6594908" cy="132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3"/>
              </a:lnSpc>
            </a:pPr>
            <a:r>
              <a:rPr lang="en-US" b="true" sz="2199" spc="-15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Rendering and Display</a:t>
            </a:r>
          </a:p>
          <a:p>
            <a:pPr algn="ctr">
              <a:lnSpc>
                <a:spcPts val="2683"/>
              </a:lnSpc>
            </a:pPr>
            <a:r>
              <a:rPr lang="en-US" sz="2199" spc="-15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ImGui draw data → OpenGL rendering → Screen update</a:t>
            </a:r>
          </a:p>
          <a:p>
            <a:pPr algn="ctr">
              <a:lnSpc>
                <a:spcPts val="2683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6340010" y="7952089"/>
            <a:ext cx="91440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NOTES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300164" y="7952089"/>
            <a:ext cx="1687671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WALLPAPER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419465" y="7952089"/>
            <a:ext cx="2142649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TASK MANAGER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9494" y="362276"/>
            <a:ext cx="17609011" cy="984100"/>
            <a:chOff x="0" y="0"/>
            <a:chExt cx="4637764" cy="2591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7764" cy="259187"/>
            </a:xfrm>
            <a:custGeom>
              <a:avLst/>
              <a:gdLst/>
              <a:ahLst/>
              <a:cxnLst/>
              <a:rect r="r" b="b" t="t" l="l"/>
              <a:pathLst>
                <a:path h="259187" w="4637764">
                  <a:moveTo>
                    <a:pt x="10112" y="0"/>
                  </a:moveTo>
                  <a:lnTo>
                    <a:pt x="4627652" y="0"/>
                  </a:lnTo>
                  <a:cubicBezTo>
                    <a:pt x="4633237" y="0"/>
                    <a:pt x="4637764" y="4527"/>
                    <a:pt x="4637764" y="10112"/>
                  </a:cubicBezTo>
                  <a:lnTo>
                    <a:pt x="4637764" y="249075"/>
                  </a:lnTo>
                  <a:cubicBezTo>
                    <a:pt x="4637764" y="254659"/>
                    <a:pt x="4633237" y="259187"/>
                    <a:pt x="4627652" y="259187"/>
                  </a:cubicBezTo>
                  <a:lnTo>
                    <a:pt x="10112" y="259187"/>
                  </a:lnTo>
                  <a:cubicBezTo>
                    <a:pt x="4527" y="259187"/>
                    <a:pt x="0" y="254659"/>
                    <a:pt x="0" y="249075"/>
                  </a:cubicBezTo>
                  <a:lnTo>
                    <a:pt x="0" y="10112"/>
                  </a:lnTo>
                  <a:cubicBezTo>
                    <a:pt x="0" y="4527"/>
                    <a:pt x="4527" y="0"/>
                    <a:pt x="10112" y="0"/>
                  </a:cubicBezTo>
                  <a:close/>
                </a:path>
              </a:pathLst>
            </a:custGeom>
            <a:solidFill>
              <a:srgbClr val="A6A6A6">
                <a:alpha val="5686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37764" cy="297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807633" y="571060"/>
            <a:ext cx="1919429" cy="566532"/>
            <a:chOff x="0" y="0"/>
            <a:chExt cx="505529" cy="1492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2435" y="0"/>
                  </a:moveTo>
                  <a:lnTo>
                    <a:pt x="453094" y="0"/>
                  </a:lnTo>
                  <a:cubicBezTo>
                    <a:pt x="467000" y="0"/>
                    <a:pt x="480337" y="5524"/>
                    <a:pt x="490171" y="15358"/>
                  </a:cubicBezTo>
                  <a:cubicBezTo>
                    <a:pt x="500004" y="25191"/>
                    <a:pt x="505529" y="38528"/>
                    <a:pt x="505529" y="52435"/>
                  </a:cubicBezTo>
                  <a:lnTo>
                    <a:pt x="505529" y="96775"/>
                  </a:lnTo>
                  <a:cubicBezTo>
                    <a:pt x="505529" y="110682"/>
                    <a:pt x="500004" y="124019"/>
                    <a:pt x="490171" y="133852"/>
                  </a:cubicBezTo>
                  <a:cubicBezTo>
                    <a:pt x="480337" y="143686"/>
                    <a:pt x="467000" y="149210"/>
                    <a:pt x="453094" y="149210"/>
                  </a:cubicBezTo>
                  <a:lnTo>
                    <a:pt x="52435" y="149210"/>
                  </a:lnTo>
                  <a:cubicBezTo>
                    <a:pt x="38528" y="149210"/>
                    <a:pt x="25191" y="143686"/>
                    <a:pt x="15358" y="133852"/>
                  </a:cubicBezTo>
                  <a:cubicBezTo>
                    <a:pt x="5524" y="124019"/>
                    <a:pt x="0" y="110682"/>
                    <a:pt x="0" y="96775"/>
                  </a:cubicBezTo>
                  <a:lnTo>
                    <a:pt x="0" y="52435"/>
                  </a:lnTo>
                  <a:cubicBezTo>
                    <a:pt x="0" y="38528"/>
                    <a:pt x="5524" y="25191"/>
                    <a:pt x="15358" y="15358"/>
                  </a:cubicBezTo>
                  <a:cubicBezTo>
                    <a:pt x="25191" y="5524"/>
                    <a:pt x="38528" y="0"/>
                    <a:pt x="52435" y="0"/>
                  </a:cubicBezTo>
                  <a:close/>
                </a:path>
              </a:pathLst>
            </a:custGeom>
            <a:solidFill>
              <a:srgbClr val="CCFF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43301" y="3729178"/>
            <a:ext cx="14801398" cy="89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8"/>
              </a:lnSpc>
              <a:spcBef>
                <a:spcPct val="0"/>
              </a:spcBef>
            </a:pPr>
            <a:r>
              <a:rPr lang="en-US" sz="5227" spc="1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TECHNOLOGIES AND LIBRARIES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92426" y="659090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56548" y="661303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64171" y="661303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97756" y="659090"/>
            <a:ext cx="2224975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56702" y="667317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0771" y="701346"/>
            <a:ext cx="1888114" cy="29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9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GROUP 5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217073" y="5599274"/>
            <a:ext cx="3487326" cy="1513398"/>
            <a:chOff x="0" y="0"/>
            <a:chExt cx="918473" cy="3985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8473" cy="398590"/>
            </a:xfrm>
            <a:custGeom>
              <a:avLst/>
              <a:gdLst/>
              <a:ahLst/>
              <a:cxnLst/>
              <a:rect r="r" b="b" t="t" l="l"/>
              <a:pathLst>
                <a:path h="398590" w="918473">
                  <a:moveTo>
                    <a:pt x="113221" y="0"/>
                  </a:moveTo>
                  <a:lnTo>
                    <a:pt x="805252" y="0"/>
                  </a:lnTo>
                  <a:cubicBezTo>
                    <a:pt x="867782" y="0"/>
                    <a:pt x="918473" y="50691"/>
                    <a:pt x="918473" y="113221"/>
                  </a:cubicBezTo>
                  <a:lnTo>
                    <a:pt x="918473" y="285369"/>
                  </a:lnTo>
                  <a:cubicBezTo>
                    <a:pt x="918473" y="315398"/>
                    <a:pt x="906544" y="344196"/>
                    <a:pt x="885311" y="365429"/>
                  </a:cubicBezTo>
                  <a:cubicBezTo>
                    <a:pt x="864078" y="386662"/>
                    <a:pt x="835280" y="398590"/>
                    <a:pt x="805252" y="398590"/>
                  </a:cubicBezTo>
                  <a:lnTo>
                    <a:pt x="113221" y="398590"/>
                  </a:lnTo>
                  <a:cubicBezTo>
                    <a:pt x="50691" y="398590"/>
                    <a:pt x="0" y="347900"/>
                    <a:pt x="0" y="285369"/>
                  </a:cubicBezTo>
                  <a:lnTo>
                    <a:pt x="0" y="113221"/>
                  </a:lnTo>
                  <a:cubicBezTo>
                    <a:pt x="0" y="50691"/>
                    <a:pt x="50691" y="0"/>
                    <a:pt x="113221" y="0"/>
                  </a:cubicBezTo>
                  <a:close/>
                </a:path>
              </a:pathLst>
            </a:custGeom>
            <a:solidFill>
              <a:srgbClr val="FFFC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18473" cy="436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5599274"/>
            <a:ext cx="3487326" cy="1513398"/>
            <a:chOff x="0" y="0"/>
            <a:chExt cx="918473" cy="3985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8473" cy="398590"/>
            </a:xfrm>
            <a:custGeom>
              <a:avLst/>
              <a:gdLst/>
              <a:ahLst/>
              <a:cxnLst/>
              <a:rect r="r" b="b" t="t" l="l"/>
              <a:pathLst>
                <a:path h="398590" w="918473">
                  <a:moveTo>
                    <a:pt x="113221" y="0"/>
                  </a:moveTo>
                  <a:lnTo>
                    <a:pt x="805252" y="0"/>
                  </a:lnTo>
                  <a:cubicBezTo>
                    <a:pt x="867782" y="0"/>
                    <a:pt x="918473" y="50691"/>
                    <a:pt x="918473" y="113221"/>
                  </a:cubicBezTo>
                  <a:lnTo>
                    <a:pt x="918473" y="285369"/>
                  </a:lnTo>
                  <a:cubicBezTo>
                    <a:pt x="918473" y="315398"/>
                    <a:pt x="906544" y="344196"/>
                    <a:pt x="885311" y="365429"/>
                  </a:cubicBezTo>
                  <a:cubicBezTo>
                    <a:pt x="864078" y="386662"/>
                    <a:pt x="835280" y="398590"/>
                    <a:pt x="805252" y="398590"/>
                  </a:cubicBezTo>
                  <a:lnTo>
                    <a:pt x="113221" y="398590"/>
                  </a:lnTo>
                  <a:cubicBezTo>
                    <a:pt x="50691" y="398590"/>
                    <a:pt x="0" y="347900"/>
                    <a:pt x="0" y="285369"/>
                  </a:cubicBezTo>
                  <a:lnTo>
                    <a:pt x="0" y="113221"/>
                  </a:lnTo>
                  <a:cubicBezTo>
                    <a:pt x="0" y="50691"/>
                    <a:pt x="50691" y="0"/>
                    <a:pt x="113221" y="0"/>
                  </a:cubicBezTo>
                  <a:close/>
                </a:path>
              </a:pathLst>
            </a:custGeom>
            <a:solidFill>
              <a:srgbClr val="CCFF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8473" cy="436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410495" y="5599274"/>
            <a:ext cx="3487326" cy="1513398"/>
            <a:chOff x="0" y="0"/>
            <a:chExt cx="918473" cy="3985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8473" cy="398590"/>
            </a:xfrm>
            <a:custGeom>
              <a:avLst/>
              <a:gdLst/>
              <a:ahLst/>
              <a:cxnLst/>
              <a:rect r="r" b="b" t="t" l="l"/>
              <a:pathLst>
                <a:path h="398590" w="918473">
                  <a:moveTo>
                    <a:pt x="113221" y="0"/>
                  </a:moveTo>
                  <a:lnTo>
                    <a:pt x="805252" y="0"/>
                  </a:lnTo>
                  <a:cubicBezTo>
                    <a:pt x="867782" y="0"/>
                    <a:pt x="918473" y="50691"/>
                    <a:pt x="918473" y="113221"/>
                  </a:cubicBezTo>
                  <a:lnTo>
                    <a:pt x="918473" y="285369"/>
                  </a:lnTo>
                  <a:cubicBezTo>
                    <a:pt x="918473" y="315398"/>
                    <a:pt x="906544" y="344196"/>
                    <a:pt x="885311" y="365429"/>
                  </a:cubicBezTo>
                  <a:cubicBezTo>
                    <a:pt x="864078" y="386662"/>
                    <a:pt x="835280" y="398590"/>
                    <a:pt x="805252" y="398590"/>
                  </a:cubicBezTo>
                  <a:lnTo>
                    <a:pt x="113221" y="398590"/>
                  </a:lnTo>
                  <a:cubicBezTo>
                    <a:pt x="50691" y="398590"/>
                    <a:pt x="0" y="347900"/>
                    <a:pt x="0" y="285369"/>
                  </a:cubicBezTo>
                  <a:lnTo>
                    <a:pt x="0" y="113221"/>
                  </a:lnTo>
                  <a:cubicBezTo>
                    <a:pt x="0" y="50691"/>
                    <a:pt x="50691" y="0"/>
                    <a:pt x="113221" y="0"/>
                  </a:cubicBezTo>
                  <a:close/>
                </a:path>
              </a:pathLst>
            </a:custGeom>
            <a:solidFill>
              <a:srgbClr val="FF63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18473" cy="436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51586" y="5599274"/>
            <a:ext cx="3487326" cy="1513398"/>
            <a:chOff x="0" y="0"/>
            <a:chExt cx="918473" cy="3985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8473" cy="398590"/>
            </a:xfrm>
            <a:custGeom>
              <a:avLst/>
              <a:gdLst/>
              <a:ahLst/>
              <a:cxnLst/>
              <a:rect r="r" b="b" t="t" l="l"/>
              <a:pathLst>
                <a:path h="398590" w="918473">
                  <a:moveTo>
                    <a:pt x="113221" y="0"/>
                  </a:moveTo>
                  <a:lnTo>
                    <a:pt x="805252" y="0"/>
                  </a:lnTo>
                  <a:cubicBezTo>
                    <a:pt x="867782" y="0"/>
                    <a:pt x="918473" y="50691"/>
                    <a:pt x="918473" y="113221"/>
                  </a:cubicBezTo>
                  <a:lnTo>
                    <a:pt x="918473" y="285369"/>
                  </a:lnTo>
                  <a:cubicBezTo>
                    <a:pt x="918473" y="315398"/>
                    <a:pt x="906544" y="344196"/>
                    <a:pt x="885311" y="365429"/>
                  </a:cubicBezTo>
                  <a:cubicBezTo>
                    <a:pt x="864078" y="386662"/>
                    <a:pt x="835280" y="398590"/>
                    <a:pt x="805252" y="398590"/>
                  </a:cubicBezTo>
                  <a:lnTo>
                    <a:pt x="113221" y="398590"/>
                  </a:lnTo>
                  <a:cubicBezTo>
                    <a:pt x="50691" y="398590"/>
                    <a:pt x="0" y="347900"/>
                    <a:pt x="0" y="285369"/>
                  </a:cubicBezTo>
                  <a:lnTo>
                    <a:pt x="0" y="113221"/>
                  </a:lnTo>
                  <a:cubicBezTo>
                    <a:pt x="0" y="50691"/>
                    <a:pt x="50691" y="0"/>
                    <a:pt x="113221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18473" cy="436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156243" y="6053095"/>
            <a:ext cx="3608984" cy="53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1"/>
              </a:lnSpc>
              <a:spcBef>
                <a:spcPct val="0"/>
              </a:spcBef>
            </a:pPr>
            <a:r>
              <a:rPr lang="en-US" b="true" sz="3151" spc="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DEAR IMGUI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7871" y="6053095"/>
            <a:ext cx="3608984" cy="53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1"/>
              </a:lnSpc>
              <a:spcBef>
                <a:spcPct val="0"/>
              </a:spcBef>
            </a:pPr>
            <a:r>
              <a:rPr lang="en-US" b="true" sz="3151" spc="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C++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29927" y="6053095"/>
            <a:ext cx="3608984" cy="53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1"/>
              </a:lnSpc>
              <a:spcBef>
                <a:spcPct val="0"/>
              </a:spcBef>
            </a:pPr>
            <a:r>
              <a:rPr lang="en-US" b="true" sz="3151" spc="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GLFW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77087" y="6053095"/>
            <a:ext cx="3608984" cy="53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1"/>
              </a:lnSpc>
              <a:spcBef>
                <a:spcPct val="0"/>
              </a:spcBef>
            </a:pPr>
            <a:r>
              <a:rPr lang="en-US" b="true" sz="3151" spc="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OPENGL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7871" y="7381944"/>
            <a:ext cx="3548155" cy="143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2888" indent="-221444" lvl="1">
              <a:lnSpc>
                <a:spcPts val="2871"/>
              </a:lnSpc>
              <a:spcBef>
                <a:spcPct val="0"/>
              </a:spcBef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Implements application logic, state management, and the main program loop.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082471" y="7381944"/>
            <a:ext cx="3548155" cy="70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2888" indent="-221444" lvl="1">
              <a:lnSpc>
                <a:spcPts val="2871"/>
              </a:lnSpc>
              <a:spcBef>
                <a:spcPct val="0"/>
              </a:spcBef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</a:t>
            </a: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eates the user interface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60342" y="7381944"/>
            <a:ext cx="3548155" cy="107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2888" indent="-221444" lvl="1">
              <a:lnSpc>
                <a:spcPts val="2871"/>
              </a:lnSpc>
              <a:spcBef>
                <a:spcPct val="0"/>
              </a:spcBef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</a:t>
            </a: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eates the application window and manages window events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311670" y="7381944"/>
            <a:ext cx="3548155" cy="70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2888" indent="-221444" lvl="1">
              <a:lnSpc>
                <a:spcPts val="2871"/>
              </a:lnSpc>
              <a:spcBef>
                <a:spcPct val="0"/>
              </a:spcBef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enders the ImGui interface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810040" y="4204196"/>
            <a:ext cx="16449293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810029" y="1132436"/>
            <a:ext cx="16449293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391393" y="1722626"/>
            <a:ext cx="1865054" cy="2156131"/>
          </a:xfrm>
          <a:custGeom>
            <a:avLst/>
            <a:gdLst/>
            <a:ahLst/>
            <a:cxnLst/>
            <a:rect r="r" b="b" t="t" l="l"/>
            <a:pathLst>
              <a:path h="2156131" w="1865054">
                <a:moveTo>
                  <a:pt x="0" y="0"/>
                </a:moveTo>
                <a:lnTo>
                  <a:pt x="1865054" y="0"/>
                </a:lnTo>
                <a:lnTo>
                  <a:pt x="1865054" y="2156131"/>
                </a:lnTo>
                <a:lnTo>
                  <a:pt x="0" y="2156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44666" y="1722626"/>
            <a:ext cx="8003717" cy="199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Provides a multiline text input area.</a:t>
            </a:r>
          </a:p>
          <a:p>
            <a:pPr algn="just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Allows users to type and edit notes during the session.</a:t>
            </a:r>
          </a:p>
          <a:p>
            <a:pPr algn="just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Displays a character count when text is entered.</a:t>
            </a:r>
          </a:p>
          <a:p>
            <a:pPr algn="just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Uses an application window that can be opened or closed independently.</a:t>
            </a:r>
          </a:p>
          <a:p>
            <a:pPr algn="just">
              <a:lnSpc>
                <a:spcPts val="2683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810018" y="4547096"/>
            <a:ext cx="16449282" cy="7175374"/>
            <a:chOff x="0" y="0"/>
            <a:chExt cx="4332351" cy="18897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32351" cy="1889758"/>
            </a:xfrm>
            <a:custGeom>
              <a:avLst/>
              <a:gdLst/>
              <a:ahLst/>
              <a:cxnLst/>
              <a:rect r="r" b="b" t="t" l="l"/>
              <a:pathLst>
                <a:path h="1889758" w="4332351">
                  <a:moveTo>
                    <a:pt x="4332351" y="23533"/>
                  </a:moveTo>
                  <a:lnTo>
                    <a:pt x="4332351" y="1866225"/>
                  </a:lnTo>
                  <a:cubicBezTo>
                    <a:pt x="4332351" y="1872467"/>
                    <a:pt x="4329872" y="1878452"/>
                    <a:pt x="4325458" y="1882865"/>
                  </a:cubicBezTo>
                  <a:cubicBezTo>
                    <a:pt x="4321045" y="1887279"/>
                    <a:pt x="4315059" y="1889758"/>
                    <a:pt x="4308818" y="1889758"/>
                  </a:cubicBezTo>
                  <a:lnTo>
                    <a:pt x="23533" y="1889758"/>
                  </a:lnTo>
                  <a:cubicBezTo>
                    <a:pt x="17291" y="1889758"/>
                    <a:pt x="11306" y="1887279"/>
                    <a:pt x="6893" y="1882865"/>
                  </a:cubicBezTo>
                  <a:cubicBezTo>
                    <a:pt x="2479" y="1878452"/>
                    <a:pt x="0" y="1872467"/>
                    <a:pt x="0" y="1866225"/>
                  </a:cubicBezTo>
                  <a:lnTo>
                    <a:pt x="0" y="23533"/>
                  </a:lnTo>
                  <a:cubicBezTo>
                    <a:pt x="0" y="17291"/>
                    <a:pt x="2479" y="11306"/>
                    <a:pt x="6893" y="6893"/>
                  </a:cubicBezTo>
                  <a:cubicBezTo>
                    <a:pt x="11306" y="2479"/>
                    <a:pt x="17291" y="0"/>
                    <a:pt x="23533" y="0"/>
                  </a:cubicBezTo>
                  <a:lnTo>
                    <a:pt x="4308818" y="0"/>
                  </a:lnTo>
                  <a:cubicBezTo>
                    <a:pt x="4321815" y="0"/>
                    <a:pt x="4332351" y="10536"/>
                    <a:pt x="4332351" y="23533"/>
                  </a:cubicBezTo>
                  <a:close/>
                </a:path>
              </a:pathLst>
            </a:custGeom>
            <a:solidFill>
              <a:srgbClr val="CCFF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32351" cy="1927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948742" y="4805610"/>
            <a:ext cx="14171834" cy="487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void drawNotes(){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ImGui::SetNextWindowPos(ImVec2(80, 60), ImGuiCond_FirstUseEver);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ImGui::SetNextWindowSize(ImVec2(420, 320), ImGuiCond_FirstUseEver);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if (ImGui::Begin("Notes", &amp;notesOpen)){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ImGui::Text("File   Edit   View");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ImGui::Separator();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ImGui::InputTextMultiline("##notes", notesText, sizeof(notesText), ImVec2(-1, -mGui::GetFrameHeightWithSpacing()));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if (notesText[0] == '\0'){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ImGui::TextDisabled("Start typing your notes here...");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} else 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ImGui::TextDisabled("%d characters", (int)strlen(notesText));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}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}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ImGui::End();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48742" y="57610"/>
            <a:ext cx="13888215" cy="9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0"/>
              </a:lnSpc>
              <a:spcBef>
                <a:spcPct val="0"/>
              </a:spcBef>
            </a:pPr>
            <a:r>
              <a:rPr lang="en-US" sz="5643" spc="11">
                <a:solidFill>
                  <a:srgbClr val="CCFF00"/>
                </a:solidFill>
                <a:latin typeface="HK Modular"/>
                <a:ea typeface="HK Modular"/>
                <a:cs typeface="HK Modular"/>
                <a:sym typeface="HK Modular"/>
              </a:rPr>
              <a:t>NOTES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810018" y="4053591"/>
            <a:ext cx="16449293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810007" y="981831"/>
            <a:ext cx="16449293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675361" y="1602692"/>
            <a:ext cx="8003717" cy="199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Allows users to customize the top and bottom wallpaper colors.</a:t>
            </a:r>
          </a:p>
          <a:p>
            <a:pPr algn="just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</a:t>
            </a: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ovides a checkbox to enable or disable the dot pattern.</a:t>
            </a:r>
          </a:p>
          <a:p>
            <a:pPr algn="just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Displays system information, including the OS name, version, processor label, memory label, and frame rate.</a:t>
            </a:r>
          </a:p>
          <a:p>
            <a:pPr algn="just">
              <a:lnSpc>
                <a:spcPts val="2683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810018" y="4232771"/>
            <a:ext cx="16449282" cy="6409182"/>
            <a:chOff x="0" y="0"/>
            <a:chExt cx="4332351" cy="16880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32351" cy="1688084"/>
            </a:xfrm>
            <a:custGeom>
              <a:avLst/>
              <a:gdLst/>
              <a:ahLst/>
              <a:cxnLst/>
              <a:rect r="r" b="b" t="t" l="l"/>
              <a:pathLst>
                <a:path h="1688084" w="4332351">
                  <a:moveTo>
                    <a:pt x="4332351" y="23533"/>
                  </a:moveTo>
                  <a:lnTo>
                    <a:pt x="4332351" y="1664551"/>
                  </a:lnTo>
                  <a:cubicBezTo>
                    <a:pt x="4332351" y="1670793"/>
                    <a:pt x="4329872" y="1676778"/>
                    <a:pt x="4325458" y="1681191"/>
                  </a:cubicBezTo>
                  <a:cubicBezTo>
                    <a:pt x="4321045" y="1685605"/>
                    <a:pt x="4315059" y="1688084"/>
                    <a:pt x="4308818" y="1688084"/>
                  </a:cubicBezTo>
                  <a:lnTo>
                    <a:pt x="23533" y="1688084"/>
                  </a:lnTo>
                  <a:cubicBezTo>
                    <a:pt x="17291" y="1688084"/>
                    <a:pt x="11306" y="1685605"/>
                    <a:pt x="6893" y="1681191"/>
                  </a:cubicBezTo>
                  <a:cubicBezTo>
                    <a:pt x="2479" y="1676778"/>
                    <a:pt x="0" y="1670793"/>
                    <a:pt x="0" y="1664551"/>
                  </a:cubicBezTo>
                  <a:lnTo>
                    <a:pt x="0" y="23533"/>
                  </a:lnTo>
                  <a:cubicBezTo>
                    <a:pt x="0" y="17291"/>
                    <a:pt x="2479" y="11306"/>
                    <a:pt x="6893" y="6893"/>
                  </a:cubicBezTo>
                  <a:cubicBezTo>
                    <a:pt x="11306" y="2479"/>
                    <a:pt x="17291" y="0"/>
                    <a:pt x="23533" y="0"/>
                  </a:cubicBezTo>
                  <a:lnTo>
                    <a:pt x="4308818" y="0"/>
                  </a:lnTo>
                  <a:cubicBezTo>
                    <a:pt x="4321815" y="0"/>
                    <a:pt x="4332351" y="10536"/>
                    <a:pt x="4332351" y="23533"/>
                  </a:cubicBezTo>
                  <a:close/>
                </a:path>
              </a:pathLst>
            </a:custGeom>
            <a:solidFill>
              <a:srgbClr val="FFF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32351" cy="17261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48742" y="4348410"/>
            <a:ext cx="14171834" cy="578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void drawSettings(){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ImGui::SetNextWindowPos(ImVec2(560, 60), ImGuiCond_FirstUseEver);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ImGui::SetNextWindowSize(ImVec2(460, 340), ImGuiCond_FirstUseEver);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if (ImGui::Begin("Settings", &amp;settingsOpen)){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ImGui::SeparatorText("Personalization");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ImGui::ColorEdit3("Wallpaper top", (float*)&amp;wallpaperTop);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ImGui::ColorEdit3("Wallpaper bottom", (float*)&amp;wallpaperBottom);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ImGui::Checkbox("Show dot pattern", &amp;showPattern);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ImGui::SeparatorText("About this PC");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ImGui::Text("OS name    : CSOPESY G5");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ImGui::Text("Version    : 6.7");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ImGui::Text("Processor  : AMD Ryzen Threadripper PRO 7995WX");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ImGui::Text("Memory     : 4.0 GB");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ImGui::Text("Frame rate : %.0f FPS", ImGui::GetIO().Framerate);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}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ImGui::End();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}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526876" y="1408308"/>
            <a:ext cx="2149983" cy="2149983"/>
          </a:xfrm>
          <a:custGeom>
            <a:avLst/>
            <a:gdLst/>
            <a:ahLst/>
            <a:cxnLst/>
            <a:rect r="r" b="b" t="t" l="l"/>
            <a:pathLst>
              <a:path h="2149983" w="2149983">
                <a:moveTo>
                  <a:pt x="0" y="0"/>
                </a:moveTo>
                <a:lnTo>
                  <a:pt x="2149983" y="0"/>
                </a:lnTo>
                <a:lnTo>
                  <a:pt x="2149983" y="2149983"/>
                </a:lnTo>
                <a:lnTo>
                  <a:pt x="0" y="21499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09255" y="49132"/>
            <a:ext cx="13888215" cy="9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0"/>
              </a:lnSpc>
              <a:spcBef>
                <a:spcPct val="0"/>
              </a:spcBef>
            </a:pPr>
            <a:r>
              <a:rPr lang="en-US" sz="5643" spc="11">
                <a:solidFill>
                  <a:srgbClr val="FFFC00"/>
                </a:solidFill>
                <a:latin typeface="HK Modular"/>
                <a:ea typeface="HK Modular"/>
                <a:cs typeface="HK Modular"/>
                <a:sym typeface="HK Modular"/>
              </a:rPr>
              <a:t>SETTINGS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24130" y="3399989"/>
            <a:ext cx="7612080" cy="4362037"/>
          </a:xfrm>
          <a:custGeom>
            <a:avLst/>
            <a:gdLst/>
            <a:ahLst/>
            <a:cxnLst/>
            <a:rect r="r" b="b" t="t" l="l"/>
            <a:pathLst>
              <a:path h="4362037" w="7612080">
                <a:moveTo>
                  <a:pt x="0" y="0"/>
                </a:moveTo>
                <a:lnTo>
                  <a:pt x="7612080" y="0"/>
                </a:lnTo>
                <a:lnTo>
                  <a:pt x="7612080" y="4362037"/>
                </a:lnTo>
                <a:lnTo>
                  <a:pt x="0" y="43620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916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1142" y="3813119"/>
            <a:ext cx="6806859" cy="5166065"/>
          </a:xfrm>
          <a:custGeom>
            <a:avLst/>
            <a:gdLst/>
            <a:ahLst/>
            <a:cxnLst/>
            <a:rect r="r" b="b" t="t" l="l"/>
            <a:pathLst>
              <a:path h="5166065" w="6806859">
                <a:moveTo>
                  <a:pt x="0" y="0"/>
                </a:moveTo>
                <a:lnTo>
                  <a:pt x="6806859" y="0"/>
                </a:lnTo>
                <a:lnTo>
                  <a:pt x="6806859" y="5166065"/>
                </a:lnTo>
                <a:lnTo>
                  <a:pt x="0" y="51660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81038"/>
            <a:ext cx="11326580" cy="2506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27"/>
              </a:lnSpc>
              <a:spcBef>
                <a:spcPct val="0"/>
              </a:spcBef>
            </a:pPr>
            <a:r>
              <a:rPr lang="en-US" sz="7162" spc="14">
                <a:gradFill>
                  <a:gsLst>
                    <a:gs pos="0">
                      <a:srgbClr val="89D957">
                        <a:alpha val="100000"/>
                      </a:srgbClr>
                    </a:gs>
                    <a:gs pos="100000">
                      <a:srgbClr val="C9E265">
                        <a:alpha val="100000"/>
                      </a:srgbClr>
                    </a:gs>
                  </a:gsLst>
                  <a:lin ang="0"/>
                </a:gradFill>
                <a:latin typeface="HK Modular"/>
                <a:ea typeface="HK Modular"/>
                <a:cs typeface="HK Modular"/>
                <a:sym typeface="HK Modular"/>
              </a:rPr>
              <a:t>IMPLEMENTATION APPROACH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31249" y="8531896"/>
            <a:ext cx="8828051" cy="1193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1"/>
              </a:lnSpc>
            </a:pPr>
            <a:r>
              <a:rPr lang="en-US" sz="2599" spc="-184">
                <a:gradFill>
                  <a:gsLst>
                    <a:gs pos="0">
                      <a:srgbClr val="89D957">
                        <a:alpha val="100000"/>
                      </a:srgbClr>
                    </a:gs>
                    <a:gs pos="100000">
                      <a:srgbClr val="C9E265">
                        <a:alpha val="100000"/>
                      </a:srgbClr>
                    </a:gs>
                  </a:gsLst>
                  <a:lin ang="0"/>
                </a:gradFill>
                <a:latin typeface="Montserrat"/>
                <a:ea typeface="Montserrat"/>
                <a:cs typeface="Montserrat"/>
                <a:sym typeface="Montserrat"/>
              </a:rPr>
              <a:t>Boolean state variables control the visibility of each application window.  We handle user input, and changes immediately affect the desktop's rendering.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809996" y="3087500"/>
            <a:ext cx="16449293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7922826" y="8275445"/>
            <a:ext cx="9336463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7922826" y="3087500"/>
            <a:ext cx="0" cy="9345988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85478" y="6669855"/>
            <a:ext cx="16449293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685467" y="3598095"/>
            <a:ext cx="16449293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884327" y="4382054"/>
            <a:ext cx="4201192" cy="199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Process name</a:t>
            </a:r>
          </a:p>
          <a:p>
            <a:pPr algn="just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Process ID (PID)</a:t>
            </a:r>
          </a:p>
          <a:p>
            <a:pPr algn="just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</a:t>
            </a: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ocess status</a:t>
            </a:r>
          </a:p>
          <a:p>
            <a:pPr algn="just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CPU usage in percentage</a:t>
            </a:r>
          </a:p>
          <a:p>
            <a:pPr algn="just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Memory usage in megabytes</a:t>
            </a:r>
          </a:p>
          <a:p>
            <a:pPr algn="just">
              <a:lnSpc>
                <a:spcPts val="268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04182" y="4429390"/>
            <a:ext cx="3293106" cy="158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36"/>
              </a:lnSpc>
              <a:spcBef>
                <a:spcPct val="0"/>
              </a:spcBef>
            </a:pPr>
            <a:r>
              <a:rPr lang="en-US" b="true" sz="4597" spc="9">
                <a:solidFill>
                  <a:srgbClr val="FFB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TASK MANAGER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306689" y="4387312"/>
            <a:ext cx="1512377" cy="1512377"/>
          </a:xfrm>
          <a:custGeom>
            <a:avLst/>
            <a:gdLst/>
            <a:ahLst/>
            <a:cxnLst/>
            <a:rect r="r" b="b" t="t" l="l"/>
            <a:pathLst>
              <a:path h="1512377" w="1512377">
                <a:moveTo>
                  <a:pt x="0" y="0"/>
                </a:moveTo>
                <a:lnTo>
                  <a:pt x="1512377" y="0"/>
                </a:lnTo>
                <a:lnTo>
                  <a:pt x="1512377" y="1512376"/>
                </a:lnTo>
                <a:lnTo>
                  <a:pt x="0" y="1512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45932" y="3872184"/>
            <a:ext cx="20762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PROCESS TAB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37910" y="3872184"/>
            <a:ext cx="2816214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PERFORMANCE TAB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90326" y="4386381"/>
            <a:ext cx="4672579" cy="132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CPU utilization p</a:t>
            </a: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ogress bar</a:t>
            </a:r>
          </a:p>
          <a:p>
            <a:pPr algn="just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Memory</a:t>
            </a: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utilization progress bar</a:t>
            </a:r>
          </a:p>
          <a:p>
            <a:pPr algn="just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Disk</a:t>
            </a: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utilization progress bar</a:t>
            </a:r>
          </a:p>
          <a:p>
            <a:pPr algn="just">
              <a:lnSpc>
                <a:spcPts val="2683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87781"/>
            <a:ext cx="16230600" cy="8511437"/>
            <a:chOff x="0" y="0"/>
            <a:chExt cx="4274726" cy="22416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241695"/>
            </a:xfrm>
            <a:custGeom>
              <a:avLst/>
              <a:gdLst/>
              <a:ahLst/>
              <a:cxnLst/>
              <a:rect r="r" b="b" t="t" l="l"/>
              <a:pathLst>
                <a:path h="2241695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17369"/>
                  </a:lnTo>
                  <a:cubicBezTo>
                    <a:pt x="4274726" y="2230804"/>
                    <a:pt x="4263834" y="2241695"/>
                    <a:pt x="4250399" y="2241695"/>
                  </a:cubicBezTo>
                  <a:lnTo>
                    <a:pt x="24327" y="2241695"/>
                  </a:lnTo>
                  <a:cubicBezTo>
                    <a:pt x="10891" y="2241695"/>
                    <a:pt x="0" y="2230804"/>
                    <a:pt x="0" y="221736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79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58083" y="1012825"/>
            <a:ext cx="14171834" cy="822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struct Pr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ocess { const char* name; int pid; float cpu, memory; const char* status; };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void drawTaskManager(){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if (ImGui::Begin("Task Manager", &amp;taskManagerOpen)){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Process processes[] = { {"System", 4, 4.5f, 412.6f, "Running"},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749" spc="3">
                <a:solidFill>
                  <a:srgbClr val="0064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/*other dummy processes */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};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if (ImGui::BeginTabBar("tabs")){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if (ImGui::BeginTabItem("Processes")){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if (ImGui::BeginTable("processes", 5, ImGuiTableFlags_Borders)){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    ImGui::TableSetupColumn("Name");  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    </a:t>
            </a:r>
            <a:r>
              <a:rPr lang="en-US" b="true" sz="1749" spc="3">
                <a:solidFill>
                  <a:srgbClr val="0064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/* ... PID, Status, CPU, Memory header */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    ImGui::TableHeadersRow();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    for (Process&amp; p : processes){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        ImGui::TableNextRow();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        ImGui::TableNextColumn(); ImGui::Text("%s", p.name);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        </a:t>
            </a:r>
            <a:r>
              <a:rPr lang="en-US" b="true" sz="1749" spc="3">
                <a:solidFill>
                  <a:srgbClr val="0064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/* ... PID, Status, CPU, Memory dummy values*/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    }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    ImGui::EndTable();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}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ImGui::EndTabItem();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}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if (ImGui::BeginTabItem("Performance")){ </a:t>
            </a:r>
            <a:r>
              <a:rPr lang="en-US" b="true" sz="1749" spc="3">
                <a:solidFill>
                  <a:srgbClr val="0064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/* CPU / Memory / Disk */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}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ImGui::EndTabBar();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}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}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ImGui::End();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6571" y="1532368"/>
            <a:ext cx="11326580" cy="123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27"/>
              </a:lnSpc>
              <a:spcBef>
                <a:spcPct val="0"/>
              </a:spcBef>
            </a:pPr>
            <a:r>
              <a:rPr lang="en-US" sz="7162" spc="1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DATA HANDLING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809996" y="3087500"/>
            <a:ext cx="16449293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225368" y="7667651"/>
            <a:ext cx="7033932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25357" y="3106550"/>
            <a:ext cx="0" cy="9345988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09996" y="3677487"/>
            <a:ext cx="9210619" cy="5451183"/>
          </a:xfrm>
          <a:custGeom>
            <a:avLst/>
            <a:gdLst/>
            <a:ahLst/>
            <a:cxnLst/>
            <a:rect r="r" b="b" t="t" l="l"/>
            <a:pathLst>
              <a:path h="5451183" w="9210619">
                <a:moveTo>
                  <a:pt x="0" y="0"/>
                </a:moveTo>
                <a:lnTo>
                  <a:pt x="9210619" y="0"/>
                </a:lnTo>
                <a:lnTo>
                  <a:pt x="9210619" y="5451182"/>
                </a:lnTo>
                <a:lnTo>
                  <a:pt x="0" y="5451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425371" y="3677487"/>
            <a:ext cx="6833918" cy="319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1"/>
              </a:lnSpc>
            </a:pPr>
            <a:r>
              <a:rPr lang="en-US" sz="2599" spc="-18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application uses a predefined array of process records containing dummy CPU and memory values. Moreover, the total CPU usage, total memory usage, and process count are calculated from the array.</a:t>
            </a:r>
          </a:p>
          <a:p>
            <a:pPr algn="just">
              <a:lnSpc>
                <a:spcPts val="3171"/>
              </a:lnSpc>
            </a:pPr>
          </a:p>
          <a:p>
            <a:pPr algn="just">
              <a:lnSpc>
                <a:spcPts val="3171"/>
              </a:lnSpc>
            </a:pPr>
            <a:r>
              <a:rPr lang="en-US" sz="2599" spc="-18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It displays a status based on whether the corresponding windows are open.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11707" y="7846614"/>
            <a:ext cx="6833918" cy="1593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1"/>
              </a:lnSpc>
            </a:pPr>
            <a:r>
              <a:rPr lang="en-US" b="true" sz="2599" spc="-18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Limitation: </a:t>
            </a:r>
            <a:r>
              <a:rPr lang="en-US" sz="2599" spc="-18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These figures are simulated values for demonstration purposes and do not represent actual operating-system resource usage.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919359" y="3998025"/>
            <a:ext cx="16449293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919348" y="7352527"/>
            <a:ext cx="16449293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303109" y="4323894"/>
            <a:ext cx="2398679" cy="2524926"/>
          </a:xfrm>
          <a:custGeom>
            <a:avLst/>
            <a:gdLst/>
            <a:ahLst/>
            <a:cxnLst/>
            <a:rect r="r" b="b" t="t" l="l"/>
            <a:pathLst>
              <a:path h="2524926" w="2398679">
                <a:moveTo>
                  <a:pt x="0" y="0"/>
                </a:moveTo>
                <a:lnTo>
                  <a:pt x="2398680" y="0"/>
                </a:lnTo>
                <a:lnTo>
                  <a:pt x="2398680" y="2524925"/>
                </a:lnTo>
                <a:lnTo>
                  <a:pt x="0" y="2524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09255" y="2791598"/>
            <a:ext cx="13888215" cy="968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900"/>
              </a:lnSpc>
              <a:spcBef>
                <a:spcPct val="0"/>
              </a:spcBef>
            </a:pPr>
            <a:r>
              <a:rPr lang="en-US" sz="5643" spc="11">
                <a:solidFill>
                  <a:srgbClr val="FF6300"/>
                </a:solidFill>
                <a:latin typeface="HK Modular"/>
                <a:ea typeface="HK Modular"/>
                <a:cs typeface="HK Modular"/>
                <a:sym typeface="HK Modular"/>
              </a:rPr>
              <a:t>SHUTDOWN AND LIFECYCLE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94518" y="4255651"/>
            <a:ext cx="10536411" cy="266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3"/>
              </a:lnSpc>
            </a:pP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PWR Button initiates a shutdown confirmation modal rather than closing the OS. </a:t>
            </a:r>
          </a:p>
          <a:p>
            <a:pPr algn="l">
              <a:lnSpc>
                <a:spcPts val="2683"/>
              </a:lnSpc>
            </a:pPr>
          </a:p>
          <a:p>
            <a:pPr algn="l">
              <a:lnSpc>
                <a:spcPts val="2683"/>
              </a:lnSpc>
            </a:pP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following events follow:</a:t>
            </a:r>
          </a:p>
          <a:p>
            <a:pPr algn="l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confirmation dialog asks whether to shut down the system.</a:t>
            </a:r>
          </a:p>
          <a:p>
            <a:pPr algn="l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Selecting Cancel closes the dialog and returns to the desktop.</a:t>
            </a:r>
          </a:p>
          <a:p>
            <a:pPr algn="l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Selecting Shut down sets the poweredOff state to true.</a:t>
            </a:r>
          </a:p>
          <a:p>
            <a:pPr algn="l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sz="2199" spc="-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main loop ends, and the application releases its rendering resources and terminates GLFW.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55" cy="21675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55" cy="2167555"/>
            </a:xfrm>
            <a:custGeom>
              <a:avLst/>
              <a:gdLst/>
              <a:ahLst/>
              <a:cxnLst/>
              <a:rect r="r" b="b" t="t" l="l"/>
              <a:pathLst>
                <a:path h="2167555" w="4274755">
                  <a:moveTo>
                    <a:pt x="4274755" y="23850"/>
                  </a:moveTo>
                  <a:lnTo>
                    <a:pt x="4274755" y="2143706"/>
                  </a:lnTo>
                  <a:cubicBezTo>
                    <a:pt x="4274755" y="2150031"/>
                    <a:pt x="4272243" y="2156097"/>
                    <a:pt x="4267770" y="2160570"/>
                  </a:cubicBezTo>
                  <a:cubicBezTo>
                    <a:pt x="4263297" y="2165043"/>
                    <a:pt x="4257231" y="2167555"/>
                    <a:pt x="4250906" y="2167555"/>
                  </a:cubicBezTo>
                  <a:lnTo>
                    <a:pt x="23850" y="2167555"/>
                  </a:lnTo>
                  <a:cubicBezTo>
                    <a:pt x="17524" y="2167555"/>
                    <a:pt x="11458" y="2165043"/>
                    <a:pt x="6985" y="2160570"/>
                  </a:cubicBezTo>
                  <a:cubicBezTo>
                    <a:pt x="2513" y="2156097"/>
                    <a:pt x="0" y="2150031"/>
                    <a:pt x="0" y="2143706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lnTo>
                    <a:pt x="4250906" y="0"/>
                  </a:lnTo>
                  <a:cubicBezTo>
                    <a:pt x="4257231" y="0"/>
                    <a:pt x="4263297" y="2513"/>
                    <a:pt x="4267770" y="6985"/>
                  </a:cubicBezTo>
                  <a:cubicBezTo>
                    <a:pt x="4272243" y="11458"/>
                    <a:pt x="4274755" y="17524"/>
                    <a:pt x="4274755" y="23850"/>
                  </a:cubicBezTo>
                  <a:close/>
                </a:path>
              </a:pathLst>
            </a:custGeom>
            <a:solidFill>
              <a:srgbClr val="FF63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55" cy="2205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58083" y="1774825"/>
            <a:ext cx="14171834" cy="669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void drawShutdownP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opup(){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if (shutdownPopup){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ImGui::OpenPopup("Shut down");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shutdownPopup = false;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}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Vec2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ce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nt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=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ImGui::GetMainViewport()-&gt;GetCenter();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ImGui::SetNextWindowPos(center, ImGuiCond_Appearing, ImVec2(0.5f, 0.5f));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if (ImGui::BeginPopupModal("Shut down", nullptr, ImGuiWindowFlags_AlwaysAutoResize)){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ImGui::Text("Are you sure you w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 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ut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down CSOPESY G5?");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ImGui::Spacing();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if (ImGui::Button("Shut down", ImVec2(120, 0))){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poweredOff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=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true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}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ImGui::SameLine();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if (ImGui::Button("Cancel", ImVec2(120, 0))){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ImGui::CloseCurrentPopup();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}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ImGui::EndPopup();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}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59702"/>
            <a:ext cx="16230600" cy="9967596"/>
            <a:chOff x="0" y="0"/>
            <a:chExt cx="4274755" cy="2625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55" cy="2625318"/>
            </a:xfrm>
            <a:custGeom>
              <a:avLst/>
              <a:gdLst/>
              <a:ahLst/>
              <a:cxnLst/>
              <a:rect r="r" b="b" t="t" l="l"/>
              <a:pathLst>
                <a:path h="2625318" w="4274755">
                  <a:moveTo>
                    <a:pt x="4274755" y="23850"/>
                  </a:moveTo>
                  <a:lnTo>
                    <a:pt x="4274755" y="2601468"/>
                  </a:lnTo>
                  <a:cubicBezTo>
                    <a:pt x="4274755" y="2607793"/>
                    <a:pt x="4272243" y="2613859"/>
                    <a:pt x="4267770" y="2618332"/>
                  </a:cubicBezTo>
                  <a:cubicBezTo>
                    <a:pt x="4263297" y="2622805"/>
                    <a:pt x="4257231" y="2625318"/>
                    <a:pt x="4250906" y="2625318"/>
                  </a:cubicBezTo>
                  <a:lnTo>
                    <a:pt x="23850" y="2625318"/>
                  </a:lnTo>
                  <a:cubicBezTo>
                    <a:pt x="17524" y="2625318"/>
                    <a:pt x="11458" y="2622805"/>
                    <a:pt x="6985" y="2618332"/>
                  </a:cubicBezTo>
                  <a:cubicBezTo>
                    <a:pt x="2513" y="2613859"/>
                    <a:pt x="0" y="2607793"/>
                    <a:pt x="0" y="2601468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lnTo>
                    <a:pt x="4250906" y="0"/>
                  </a:lnTo>
                  <a:cubicBezTo>
                    <a:pt x="4257231" y="0"/>
                    <a:pt x="4263297" y="2513"/>
                    <a:pt x="4267770" y="6985"/>
                  </a:cubicBezTo>
                  <a:cubicBezTo>
                    <a:pt x="4272243" y="11458"/>
                    <a:pt x="4274755" y="17524"/>
                    <a:pt x="4274755" y="23850"/>
                  </a:cubicBezTo>
                  <a:close/>
                </a:path>
              </a:pathLst>
            </a:custGeom>
            <a:solidFill>
              <a:srgbClr val="FF63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55" cy="2663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58083" y="271694"/>
            <a:ext cx="14171834" cy="2346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 main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if (!glfwInit()){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return 1;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}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</a:t>
            </a:r>
            <a:r>
              <a:rPr lang="en-US" b="true" sz="1749" spc="3">
                <a:solidFill>
                  <a:srgbClr val="0064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// OpenGL 3.0 + GLSL 130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glfwWindowHint(GLFW_CONTEXT_VERSION_MAJOR, 3);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glfwWindowHint(GLFW_CONTEXT_VERSION_MINOR, 0);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</a:t>
            </a:r>
            <a:r>
              <a:rPr lang="en-US" b="true" sz="1749" spc="3">
                <a:solidFill>
                  <a:srgbClr val="0064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// Borderless window (no window control buttons / min-max-close buttons)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GLFWmonitor* mo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nitor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=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glfw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GetPrimaryMonitor();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const GLFWvidmode* mode = glfwGetVideoMode(monitor);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glfwWindowHint(GLFW_DECORATED, GLFW_FALSE);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GLFWwindow* window = glfwCreateWindow(mode-&gt;width, mode-&gt;height, "CSOPESY G5", nullptr, nullptr);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if (window == nullptr){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return 1;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}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glfwSetWindowPos(window, 0, 0);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glfwMakeContextCurrent(window);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glfwSwapInterval(1); </a:t>
            </a:r>
            <a:r>
              <a:rPr lang="en-US" b="true" sz="1749" spc="3">
                <a:solidFill>
                  <a:srgbClr val="0064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// vsync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</a:t>
            </a:r>
            <a:r>
              <a:rPr lang="en-US" b="true" sz="1749" spc="3">
                <a:solidFill>
                  <a:srgbClr val="0064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// Dear ImGui setup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IMGUI_CHECKVERSION();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ImGui::CreateContext();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ImGui::GetIO().IniFilename = nullptr; </a:t>
            </a:r>
            <a:r>
              <a:rPr lang="en-US" b="true" sz="1749" spc="3">
                <a:solidFill>
                  <a:srgbClr val="0064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// don't save window positions to a file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ImGui::StyleColorsDark();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ImGui::GetStyle().WindowRounding = 8.0f;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ImGui::GetStyle().FrameRounding  = 4.0f;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ImGui_ImplGlfw_InitForOpenGL(window, true);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ImGui_ImplOpenGL3_Init("#version 130");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// The OS only stops when the PWR button is used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while (!poweredOff){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glfwPollEve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ts();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// Block force-exit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 (Alt+F4)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if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(glfwWindowShouldClose(window)){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glfwSetWindowShouldClose(window, GLFW_FALSE);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}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// Start a new frame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ImGui_ImplOpenGL3_NewFrame();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ImGui_ImplGlfw_NewFrame();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ImGui::NewFrame();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ImVec2 screen = ImGui::GetIO().DisplaySize;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// Draw order: desktop first, then taskbar and app windows on top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drawWallpaper(screen);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drawTaskbar(screen);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if (notesOpen) drawNotes();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if (settingsOpen) drawSettings();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if (taskManagerOpen) drawTaskManager();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drawShutdownPopup()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// Render the frame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ImGui::Render();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int width, height;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glfwGetFramebufferSize(window, &amp;width, &amp;height);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glViewport(0, 0, width, height);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glClearColor(0, 0, 0, 1);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glClear(GL_COLOR_BUFFER_BIT);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ImGui_ImplOpenGL3_RenderDrawData(ImGui::GetDrawData());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glfwSwapBuffers(window);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}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// Cleanup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ImGui_ImplOpenGL3_Shutdown();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ImGui_ImplGlfw_Shutdown();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ImGui::DestroyContext();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glfwDestroyWindow(window);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glfwTerminate();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return 0;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634220"/>
            <a:ext cx="16230600" cy="11423311"/>
            <a:chOff x="0" y="0"/>
            <a:chExt cx="4274755" cy="30087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55" cy="3008732"/>
            </a:xfrm>
            <a:custGeom>
              <a:avLst/>
              <a:gdLst/>
              <a:ahLst/>
              <a:cxnLst/>
              <a:rect r="r" b="b" t="t" l="l"/>
              <a:pathLst>
                <a:path h="3008732" w="4274755">
                  <a:moveTo>
                    <a:pt x="4274755" y="23850"/>
                  </a:moveTo>
                  <a:lnTo>
                    <a:pt x="4274755" y="2984882"/>
                  </a:lnTo>
                  <a:cubicBezTo>
                    <a:pt x="4274755" y="2998054"/>
                    <a:pt x="4264077" y="3008732"/>
                    <a:pt x="4250906" y="3008732"/>
                  </a:cubicBezTo>
                  <a:lnTo>
                    <a:pt x="23850" y="3008732"/>
                  </a:lnTo>
                  <a:cubicBezTo>
                    <a:pt x="17524" y="3008732"/>
                    <a:pt x="11458" y="3006219"/>
                    <a:pt x="6985" y="3001746"/>
                  </a:cubicBezTo>
                  <a:cubicBezTo>
                    <a:pt x="2513" y="2997273"/>
                    <a:pt x="0" y="2991207"/>
                    <a:pt x="0" y="2984882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lnTo>
                    <a:pt x="4250906" y="0"/>
                  </a:lnTo>
                  <a:cubicBezTo>
                    <a:pt x="4257231" y="0"/>
                    <a:pt x="4263297" y="2513"/>
                    <a:pt x="4267770" y="6985"/>
                  </a:cubicBezTo>
                  <a:cubicBezTo>
                    <a:pt x="4272243" y="11458"/>
                    <a:pt x="4274755" y="17524"/>
                    <a:pt x="4274755" y="23850"/>
                  </a:cubicBezTo>
                  <a:close/>
                </a:path>
              </a:pathLst>
            </a:custGeom>
            <a:solidFill>
              <a:srgbClr val="FF63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55" cy="3046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58083" y="-38100"/>
            <a:ext cx="14171834" cy="134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</a:t>
            </a:r>
            <a:r>
              <a:rPr lang="en-US" b="true" sz="1749" spc="3">
                <a:solidFill>
                  <a:srgbClr val="0064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// The OS only stops when the PWR button is used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while (!poweredOff){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glfwPollEve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ts();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</a:t>
            </a:r>
            <a:r>
              <a:rPr lang="en-US" b="true" sz="1749" spc="3">
                <a:solidFill>
                  <a:srgbClr val="0064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// Block force-exits (Alt+F4)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if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(glfwWindowShouldClose(window)){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glfwSetWindowShouldClose(window, GLFW_FALSE);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}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</a:t>
            </a:r>
            <a:r>
              <a:rPr lang="en-US" b="true" sz="1749" spc="3">
                <a:solidFill>
                  <a:srgbClr val="0064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// Start a new frame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ImGui_ImplOpenGL3_NewFrame();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ImGui_ImplGlfw_NewFrame();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ImGui::NewFrame();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ImVec2 screen = ImGui::GetIO().DisplaySize;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</a:t>
            </a:r>
            <a:r>
              <a:rPr lang="en-US" b="true" sz="1749" spc="3">
                <a:solidFill>
                  <a:srgbClr val="0064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// Draw order: desktop first, then taskbar and app windows on top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drawWallpaper(screen);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drawTaskbar(screen);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if (notesOpen) drawNotes();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if (settingsOpen) drawSettings();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if (taskManagerOpen) drawTaskManager();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drawShutdownPopup()</a:t>
            </a: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</a:t>
            </a:r>
            <a:r>
              <a:rPr lang="en-US" b="true" sz="1749" spc="3">
                <a:solidFill>
                  <a:srgbClr val="0064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// Render the frame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ImGui::Render();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int width, height;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glfwGetFramebufferSize(window, &amp;width, &amp;height);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glViewport(0, 0, width, height);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glClearColor(0, 0, 0, 1);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glClear(GL_COLOR_BUFFER_BIT);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ImGui_ImplOpenGL3_RenderDrawData(ImGui::GetDrawData());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glfwSwapBuffers(window);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}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// Cleanup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ImGui_ImplOpenGL3_Shutdown();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ImGui_ImplGlfw_Shutdown();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ImGui::DestroyContext();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glfwDestroyWindow(window);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glfwTerminate();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return 0;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616910"/>
            <a:ext cx="16230600" cy="3016884"/>
            <a:chOff x="0" y="0"/>
            <a:chExt cx="4274755" cy="7946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55" cy="794603"/>
            </a:xfrm>
            <a:custGeom>
              <a:avLst/>
              <a:gdLst/>
              <a:ahLst/>
              <a:cxnLst/>
              <a:rect r="r" b="b" t="t" l="l"/>
              <a:pathLst>
                <a:path h="794603" w="4274755">
                  <a:moveTo>
                    <a:pt x="4274755" y="23850"/>
                  </a:moveTo>
                  <a:lnTo>
                    <a:pt x="4274755" y="770753"/>
                  </a:lnTo>
                  <a:cubicBezTo>
                    <a:pt x="4274755" y="783925"/>
                    <a:pt x="4264077" y="794603"/>
                    <a:pt x="4250906" y="794603"/>
                  </a:cubicBezTo>
                  <a:lnTo>
                    <a:pt x="23850" y="794603"/>
                  </a:lnTo>
                  <a:cubicBezTo>
                    <a:pt x="17524" y="794603"/>
                    <a:pt x="11458" y="792090"/>
                    <a:pt x="6985" y="787617"/>
                  </a:cubicBezTo>
                  <a:cubicBezTo>
                    <a:pt x="2513" y="783145"/>
                    <a:pt x="0" y="777078"/>
                    <a:pt x="0" y="7707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lnTo>
                    <a:pt x="4250906" y="0"/>
                  </a:lnTo>
                  <a:cubicBezTo>
                    <a:pt x="4257231" y="0"/>
                    <a:pt x="4263297" y="2513"/>
                    <a:pt x="4267770" y="6985"/>
                  </a:cubicBezTo>
                  <a:cubicBezTo>
                    <a:pt x="4272243" y="11458"/>
                    <a:pt x="4274755" y="17524"/>
                    <a:pt x="4274755" y="23850"/>
                  </a:cubicBezTo>
                  <a:close/>
                </a:path>
              </a:pathLst>
            </a:custGeom>
            <a:solidFill>
              <a:srgbClr val="FF63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55" cy="832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58083" y="3756025"/>
            <a:ext cx="14171834" cy="273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</a:t>
            </a:r>
            <a:r>
              <a:rPr lang="en-US" b="true" sz="1749" spc="3">
                <a:solidFill>
                  <a:srgbClr val="0064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// Cleanup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ImGui_ImplOpenGL3_Shutdown();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ImGui_ImplGlfw_Shutdown();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ImGui::DestroyContext();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glfwDestroyWindow(window);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glfwTerminate();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return 0;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749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81038"/>
            <a:ext cx="11326580" cy="2506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27"/>
              </a:lnSpc>
              <a:spcBef>
                <a:spcPct val="0"/>
              </a:spcBef>
            </a:pPr>
            <a:r>
              <a:rPr lang="en-US" sz="7162" spc="1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IMPLEMENTATION APPROACH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809996" y="3087500"/>
            <a:ext cx="16449293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7489632" y="5518115"/>
            <a:ext cx="971224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489632" y="3087500"/>
            <a:ext cx="0" cy="9345988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158741" y="3350977"/>
            <a:ext cx="8704172" cy="1922713"/>
          </a:xfrm>
          <a:custGeom>
            <a:avLst/>
            <a:gdLst/>
            <a:ahLst/>
            <a:cxnLst/>
            <a:rect r="r" b="b" t="t" l="l"/>
            <a:pathLst>
              <a:path h="1922713" w="8704172">
                <a:moveTo>
                  <a:pt x="0" y="0"/>
                </a:moveTo>
                <a:lnTo>
                  <a:pt x="8704171" y="0"/>
                </a:lnTo>
                <a:lnTo>
                  <a:pt x="8704171" y="1922712"/>
                </a:lnTo>
                <a:lnTo>
                  <a:pt x="0" y="1922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09996" y="4047217"/>
            <a:ext cx="6449725" cy="4393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3171"/>
              </a:lnSpc>
              <a:buFont typeface="Arial"/>
              <a:buChar char="•"/>
            </a:pPr>
            <a:r>
              <a:rPr lang="en-US" b="true" sz="2599" spc="-18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Main application loop: </a:t>
            </a:r>
            <a:r>
              <a:rPr lang="en-US" sz="2599" spc="-18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program continuously processes events, updates the interface, draws the desktop and open applications, and renders each frame until the poweredOff variable becomes true.</a:t>
            </a:r>
          </a:p>
          <a:p>
            <a:pPr algn="l">
              <a:lnSpc>
                <a:spcPts val="3171"/>
              </a:lnSpc>
            </a:pPr>
          </a:p>
          <a:p>
            <a:pPr algn="l" marL="561337" indent="-280669" lvl="1">
              <a:lnSpc>
                <a:spcPts val="3171"/>
              </a:lnSpc>
              <a:buFont typeface="Arial"/>
              <a:buChar char="•"/>
            </a:pPr>
            <a:r>
              <a:rPr lang="en-US" sz="2599" spc="-18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Shutdown request: Clicking the PWR button sets shutdownPopup to true, opening a confirmation dialog.</a:t>
            </a:r>
          </a:p>
          <a:p>
            <a:pPr algn="l">
              <a:lnSpc>
                <a:spcPts val="317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087714" y="5874228"/>
            <a:ext cx="8828051" cy="3593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3171"/>
              </a:lnSpc>
              <a:buFont typeface="Arial"/>
              <a:buChar char="•"/>
            </a:pPr>
            <a:r>
              <a:rPr lang="en-US" sz="2599" spc="-18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User confirmation: Selecting Shut down sets poweredOff to true, while selecting Cancel closes the dialog without terminating the application.</a:t>
            </a:r>
          </a:p>
          <a:p>
            <a:pPr algn="l">
              <a:lnSpc>
                <a:spcPts val="3171"/>
              </a:lnSpc>
            </a:pPr>
          </a:p>
          <a:p>
            <a:pPr algn="l" marL="561337" indent="-280669" lvl="1">
              <a:lnSpc>
                <a:spcPts val="3171"/>
              </a:lnSpc>
              <a:buFont typeface="Arial"/>
              <a:buChar char="•"/>
            </a:pPr>
            <a:r>
              <a:rPr lang="en-US" sz="2599" spc="-18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Application termination: When the main loop ends, the program shuts down the ImGui rendering backends, destroys the ImGui context, destroys the GLFW window, and terminates GLFW.</a:t>
            </a:r>
          </a:p>
          <a:p>
            <a:pPr algn="l">
              <a:lnSpc>
                <a:spcPts val="3171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17070" y="885825"/>
            <a:ext cx="13453860" cy="123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27"/>
              </a:lnSpc>
              <a:spcBef>
                <a:spcPct val="0"/>
              </a:spcBef>
            </a:pPr>
            <a:r>
              <a:rPr lang="en-US" sz="7162" spc="1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DESIGN DISCUSSION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919398" y="2422632"/>
            <a:ext cx="16449293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31975" y="2298706"/>
            <a:ext cx="15224050" cy="7296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Interface Design: </a:t>
            </a:r>
            <a:r>
              <a:rPr lang="en-US" sz="2600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 d</a:t>
            </a:r>
            <a:r>
              <a:rPr lang="en-US" sz="2600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eveloped the interface using C++, Dear ImGui, GLFW, and OpenGL to create a borderless, full-screen desktop with a customizable wallpaper and taskbar.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Extra Application Features: </a:t>
            </a:r>
            <a:r>
              <a:rPr lang="en-US" sz="2600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 decided to i</a:t>
            </a:r>
            <a:r>
              <a:rPr lang="en-US" sz="2600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nclude Notes for text editing and Settings for wallpaper customization since we wanted to explore more and more.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Interaction and State Management:</a:t>
            </a:r>
            <a:r>
              <a:rPr lang="en-US" sz="2600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We used </a:t>
            </a:r>
            <a:r>
              <a:rPr lang="en-US" sz="2600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Boolean variables to control application windows and respond to user actions.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 Lifecycle: </a:t>
            </a:r>
            <a:r>
              <a:rPr lang="en-US" sz="2600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Initializes the graphical interface, continuously renders the desktop through a main loop, and cleans up resources when the application exits.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Shutdown Mechanism: </a:t>
            </a:r>
            <a:r>
              <a:rPr lang="en-US" sz="2600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PWR button opens a confirmation dialog. Confirming shutdown ends the main loop and terminates the desktop simulation.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919409" y="4286060"/>
            <a:ext cx="16449293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919420" y="5727286"/>
            <a:ext cx="16449293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919431" y="7012965"/>
            <a:ext cx="16449293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919354" y="8587518"/>
            <a:ext cx="16449293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79519" y="3949425"/>
            <a:ext cx="14307742" cy="214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63"/>
              </a:lnSpc>
              <a:spcBef>
                <a:spcPct val="0"/>
              </a:spcBef>
            </a:pPr>
            <a:r>
              <a:rPr lang="en-US" sz="12474" spc="2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496029" y="9059269"/>
            <a:ext cx="1274721" cy="42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DAHXnzBn-yg</dc:identifier>
  <dcterms:modified xsi:type="dcterms:W3CDTF">2011-08-01T06:04:30Z</dcterms:modified>
  <cp:revision>1</cp:revision>
  <dc:title>CSOPESY MO4</dc:title>
</cp:coreProperties>
</file>